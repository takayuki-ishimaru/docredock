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c026ecdad4450" /><Relationship Type="http://schemas.openxmlformats.org/officeDocument/2006/relationships/extended-properties" Target="/docProps/app.xml" Id="R12673050a2e9406a" /><Relationship Type="http://schemas.openxmlformats.org/officeDocument/2006/relationships/officeDocument" Target="/ppt/presentation.xml" Id="R2879f65ba07247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119a8e35064dc9"/>
  </p:sldMasterIdLst>
  <p:notesMasterIdLst>
    <p:notesMasterId xmlns:r="http://schemas.openxmlformats.org/officeDocument/2006/relationships" r:id="Ra46434e45000425b"/>
  </p:notesMasterIdLst>
  <p:sldIdLst>
    <p:sldId xmlns:r="http://schemas.openxmlformats.org/officeDocument/2006/relationships" id="256" r:id="R7e1e6628b0444ae3"/>
    <p:sldId xmlns:r="http://schemas.openxmlformats.org/officeDocument/2006/relationships" id="257" r:id="Rf24ff3cf19994a43"/>
    <p:sldId xmlns:r="http://schemas.openxmlformats.org/officeDocument/2006/relationships" id="258" r:id="Rf40926e7b42e4544"/>
    <p:sldId xmlns:r="http://schemas.openxmlformats.org/officeDocument/2006/relationships" id="259" r:id="Rfad6124b0d4d4b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6901b87be42aa" /><Relationship Type="http://schemas.openxmlformats.org/officeDocument/2006/relationships/slideMaster" Target="/ppt/slideMasters/slideMaster1.xml" Id="R5b119a8e35064dc9" /><Relationship Type="http://schemas.openxmlformats.org/officeDocument/2006/relationships/notesMaster" Target="/ppt/notesMasters/notesMaster1.xml" Id="Ra46434e45000425b" /><Relationship Type="http://schemas.openxmlformats.org/officeDocument/2006/relationships/presProps" Target="/ppt/presProps.xml" Id="R05da2a2d100a41bd" /><Relationship Type="http://schemas.openxmlformats.org/officeDocument/2006/relationships/tableStyles" Target="/ppt/tableStyles.xml" Id="Rceeeb6cdd4164e04" /><Relationship Type="http://schemas.openxmlformats.org/officeDocument/2006/relationships/slide" Target="/ppt/slides/slide1.xml" Id="R7e1e6628b0444ae3" /><Relationship Type="http://schemas.openxmlformats.org/officeDocument/2006/relationships/slide" Target="/ppt/slides/slide2.xml" Id="Rf24ff3cf19994a43" /><Relationship Type="http://schemas.openxmlformats.org/officeDocument/2006/relationships/slide" Target="/ppt/slides/slide3.xml" Id="Rf40926e7b42e4544" /><Relationship Type="http://schemas.openxmlformats.org/officeDocument/2006/relationships/slide" Target="/ppt/slides/slide4.xml" Id="Rfad6124b0d4d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97ea203d94e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6c981907a4038" /><Relationship Type="http://schemas.openxmlformats.org/officeDocument/2006/relationships/notesMaster" Target="/ppt/notesMasters/notesMaster1.xml" Id="R9e75f53b70744e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233f99750646ca" /><Relationship Type="http://schemas.openxmlformats.org/officeDocument/2006/relationships/notesMaster" Target="/ppt/notesMasters/notesMaster1.xml" Id="R3db7e2fe79a749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91659906cf4299" /><Relationship Type="http://schemas.openxmlformats.org/officeDocument/2006/relationships/notesMaster" Target="/ppt/notesMasters/notesMaster1.xml" Id="Rfe3b95f16807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f69a345ee4e93" /><Relationship Type="http://schemas.openxmlformats.org/officeDocument/2006/relationships/notesMaster" Target="/ppt/notesMasters/notesMaster1.xml" Id="R602598bbaadc47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captured from the local RTMD fixture dashboard on 2026-08-21.</a:t>
            </a:r>
          </a:p>
          <a:p xmlns:a="http://schemas.openxmlformats.org/drawingml/2006/main">
            <a:r>
              <a:t>- All metrics are deterministic RTMD verification-fixture data;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Flow follows internal runbook OPS-RUN-042.</a:t>
            </a:r>
          </a:p>
          <a:p xmlns:a="http://schemas.openxmlformats.org/drawingml/2006/main">
            <a:r>
              <a:t>- All metrics are deterministic RTMD verification-fixture data;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Metrics are generated by the local Release build and test run.</a:t>
            </a:r>
          </a:p>
          <a:p xmlns:a="http://schemas.openxmlformats.org/drawingml/2006/main">
            <a:r>
              <a:t>- All metrics are deterministic RTMD verification-fixture data;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 definitions are internal fixture data from the RTMD design and test suite.</a:t>
            </a:r>
          </a:p>
          <a:p xmlns:a="http://schemas.openxmlformats.org/drawingml/2006/main">
            <a:r>
              <a:t>- All metrics are deterministic RTMD verification-fixture data;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1c5de4aad4c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270e306a6a40eb" /><Relationship Type="http://schemas.openxmlformats.org/officeDocument/2006/relationships/slideLayout" Target="/ppt/slideLayouts/slideLayout1.xml" Id="Rb66194e23773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6194e23773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3749b11a94d83" /><Relationship Type="http://schemas.openxmlformats.org/officeDocument/2006/relationships/image" Target="/ppt/media/image.png" Id="R8e8fd14e0c8e41f2" /><Relationship Type="http://schemas.openxmlformats.org/officeDocument/2006/relationships/notesSlide" Target="/ppt/notesSlides/notesSlide1.xml" Id="Rb1244ad840a641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acbb0b42b4f11" /><Relationship Type="http://schemas.openxmlformats.org/officeDocument/2006/relationships/notesSlide" Target="/ppt/notesSlides/notesSlide2.xml" Id="R624ca03ee05a4a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bbdd4ee284932" /><Relationship Type="http://schemas.openxmlformats.org/officeDocument/2006/relationships/chart" Target="/ppt/slides/charts/chart1.xml" Id="R769c5dbfa3d0455b" /><Relationship Type="http://schemas.openxmlformats.org/officeDocument/2006/relationships/notesSlide" Target="/ppt/notesSlides/notesSlide3.xml" Id="Ra1604d486ed5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3a6ca61e3401e" /><Relationship Type="http://schemas.openxmlformats.org/officeDocument/2006/relationships/notesSlide" Target="/ppt/notesSlides/notesSlide4.xml" Id="Ra7c97078a9274b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Pass rate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Core</c:v>
              </c:pt>
              <c:pt idx="1">
                <c:v>DOCX</c:v>
              </c:pt>
              <c:pt idx="2">
                <c:v>XLSX</c:v>
              </c:pt>
              <c:pt idx="3">
                <c:v>PPTX</c:v>
              </c:pt>
              <c:pt idx="4">
                <c:v>PDF/OCR</c:v>
              </c:pt>
              <c:pt idx="5">
                <c:v>CLI/API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"/>
        </c:scaling>
        <c:delete val="0"/>
        <c:axPos val="b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99D475B-DEAE-4FC6-B8B9-E2C2C172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 / NO-GO REVIEW  ·  2026-08-21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D9AD729-894E-4F64-8FC8-17F49A8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19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Project Atlas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v2.4.0 release readiness</a:t>
            </a:r>
          </a:p>
        </p:txBody>
      </p:sp>
      <p:sp>
        <p:nvSpPr>
          <p:cNvPr id="3" name="cover-decision">
            <a:extLst xmlns:a="http://schemas.openxmlformats.org/drawingml/2006/main">
              <a:ext uri="{FF2B5EF4-FFF2-40B4-BE49-F238E27FC236}">
                <a16:creationId xmlns:a16="http://schemas.microsoft.com/office/drawing/2014/main" id="{D374FA82-CF80-45BE-A7C8-23AAA3DF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191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86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3865F"/>
                </a:solidFill>
                <a:latin typeface="Helvetica Neue"/>
                <a:ea typeface="Helvetica Neue"/>
                <a:cs typeface="Helvetica Neue"/>
              </a:rPr>
              <a:t>PPTX RELEASE DECISION: CONDITIONAL GO</a:t>
            </a:r>
          </a:p>
        </p:txBody>
      </p:sp>
      <p:sp>
        <p:nvSpPr>
          <p:cNvPr id="4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2DB97279-F8E7-418F-A318-627F67C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Canary release is approved after two documentation actions. Automatic rollback remains mandatory through hypercare.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fd14e0c8e41f2"/>
          <a:srcRect xmlns:a="http://schemas.openxmlformats.org/drawingml/2006/main" l="18437" t="0" r="184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514350"/>
            <a:ext cx="577215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6" name="cover-image-caption">
            <a:extLst xmlns:a="http://schemas.openxmlformats.org/drawingml/2006/main">
              <a:ext uri="{FF2B5EF4-FFF2-40B4-BE49-F238E27FC236}">
                <a16:creationId xmlns:a16="http://schemas.microsoft.com/office/drawing/2014/main" id="{6F5F0874-ED74-480F-8903-5064EBF9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7215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Control-room snapshot · v0.2.0-rc.3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72C3E58C-4BEB-44F6-B19F-ED4069E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PROJECT ATLAS  •  RELEASE OPERATIONS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854121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flow-title">
            <a:extLst xmlns:a="http://schemas.openxmlformats.org/drawingml/2006/main">
              <a:ext uri="{FF2B5EF4-FFF2-40B4-BE49-F238E27FC236}">
                <a16:creationId xmlns:a16="http://schemas.microsoft.com/office/drawing/2014/main" id="{C2A79831-472E-44C5-A442-5D1FAFDD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Evidence gates make rollout reversible</a:t>
            </a:r>
          </a:p>
        </p:txBody>
      </p:sp>
      <p:sp>
        <p:nvSpPr>
          <p:cNvPr id="2" name="flow-subtitle">
            <a:extLst xmlns:a="http://schemas.openxmlformats.org/drawingml/2006/main">
              <a:ext uri="{FF2B5EF4-FFF2-40B4-BE49-F238E27FC236}">
                <a16:creationId xmlns:a16="http://schemas.microsoft.com/office/drawing/2014/main" id="{0CB06061-3DA8-46AA-8107-791A0B3F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Every promotion records a result; the canary gate is the last point before global traffic.</a:t>
            </a:r>
          </a:p>
        </p:txBody>
      </p:sp>
      <p:cxnSp>
        <p:nvCxnSpPr>
          <p:cNvPr id="32" name="flow-connector-1"/>
          <p:cNvCxnSpPr/>
          <p:nvPr/>
        </p:nvCxnSpPr>
        <p:spPr>
          <a:xfrm xmlns:a="http://schemas.openxmlformats.org/drawingml/2006/main">
            <a:off x="2228850" y="30289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flow-connector-2"/>
          <p:cNvCxnSpPr/>
          <p:nvPr/>
        </p:nvCxnSpPr>
        <p:spPr>
          <a:xfrm xmlns:a="http://schemas.openxmlformats.org/drawingml/2006/main">
            <a:off x="4514850" y="30289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4" name="flow-connector-3"/>
          <p:cNvCxnSpPr/>
          <p:nvPr/>
        </p:nvCxnSpPr>
        <p:spPr>
          <a:xfrm xmlns:a="http://schemas.openxmlformats.org/drawingml/2006/main">
            <a:off x="6800850" y="30289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5" name="flow-connector-4"/>
          <p:cNvCxnSpPr/>
          <p:nvPr/>
        </p:nvCxnSpPr>
        <p:spPr>
          <a:xfrm xmlns:a="http://schemas.openxmlformats.org/drawingml/2006/main">
            <a:off x="9086850" y="30289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7" name="flow-node-1">
            <a:extLst xmlns:a="http://schemas.openxmlformats.org/drawingml/2006/main">
              <a:ext uri="{FF2B5EF4-FFF2-40B4-BE49-F238E27FC236}">
                <a16:creationId xmlns:a16="http://schemas.microsoft.com/office/drawing/2014/main" id="{02FAE76E-1638-4CAE-B47F-B08A20F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8288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F"/>
            </a:solidFill>
            <a:prstDash val="solid"/>
          </a:ln>
        </p:spPr>
      </p:sp>
      <p:sp>
        <p:nvSpPr>
          <p:cNvPr id="8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D30C8941-ED9A-4E3C-88A3-71920F21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A6FDB2AB-D468-48F3-BBB3-021A1E4D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Merge</a:t>
            </a:r>
          </a:p>
        </p:txBody>
      </p:sp>
      <p:sp>
        <p:nvSpPr>
          <p:cNvPr id="10" name="flow-body-1">
            <a:extLst xmlns:a="http://schemas.openxmlformats.org/drawingml/2006/main">
              <a:ext uri="{FF2B5EF4-FFF2-40B4-BE49-F238E27FC236}">
                <a16:creationId xmlns:a16="http://schemas.microsoft.com/office/drawing/2014/main" id="{C973B7C0-7DF8-4389-AC66-8003C16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2 approvals</a:t>
            </a:r>
          </a:p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release freeze</a:t>
            </a:r>
          </a:p>
        </p:txBody>
      </p:sp>
      <p:sp>
        <p:nvSpPr>
          <p:cNvPr id="11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38C65D6-B8E6-41FE-8515-1F86C5A0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71700"/>
            <a:ext cx="18288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F"/>
            </a:solidFill>
            <a:prstDash val="solid"/>
          </a:ln>
        </p:spPr>
      </p:sp>
      <p:sp>
        <p:nvSpPr>
          <p:cNvPr id="12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5595D499-EF2E-41C8-96DA-5EE9A741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C3205B9A-9507-49B7-956A-D70A3C0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CI / Security</a:t>
            </a:r>
          </a:p>
        </p:txBody>
      </p:sp>
      <p:sp>
        <p:nvSpPr>
          <p:cNvPr id="1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A529A3A-BE0A-4BE7-B909-D7242C6E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tests · SAST</a:t>
            </a:r>
          </a:p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license audit</a:t>
            </a:r>
          </a:p>
        </p:txBody>
      </p:sp>
      <p:sp>
        <p:nvSpPr>
          <p:cNvPr id="15" name="flow-node-3">
            <a:extLst xmlns:a="http://schemas.openxmlformats.org/drawingml/2006/main">
              <a:ext uri="{FF2B5EF4-FFF2-40B4-BE49-F238E27FC236}">
                <a16:creationId xmlns:a16="http://schemas.microsoft.com/office/drawing/2014/main" id="{EDD1AC11-6173-499A-96BD-CA273965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71700"/>
            <a:ext cx="18288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F"/>
            </a:solidFill>
            <a:prstDash val="solid"/>
          </a:ln>
        </p:spPr>
      </p:sp>
      <p:sp>
        <p:nvSpPr>
          <p:cNvPr id="16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C48DF943-02C6-4CF7-8A56-1B943F45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0B43D348-4505-476B-9632-028A21EE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Staging</a:t>
            </a:r>
          </a:p>
        </p:txBody>
      </p:sp>
      <p:sp>
        <p:nvSpPr>
          <p:cNvPr id="18" name="flow-body-3">
            <a:extLst xmlns:a="http://schemas.openxmlformats.org/drawingml/2006/main">
              <a:ext uri="{FF2B5EF4-FFF2-40B4-BE49-F238E27FC236}">
                <a16:creationId xmlns:a16="http://schemas.microsoft.com/office/drawing/2014/main" id="{F74C3A20-29ED-45B5-9F05-C7AACD58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migration</a:t>
            </a:r>
          </a:p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smoke checks</a:t>
            </a:r>
          </a:p>
        </p:txBody>
      </p:sp>
      <p:sp>
        <p:nvSpPr>
          <p:cNvPr id="19" name="flow-node-4">
            <a:extLst xmlns:a="http://schemas.openxmlformats.org/drawingml/2006/main">
              <a:ext uri="{FF2B5EF4-FFF2-40B4-BE49-F238E27FC236}">
                <a16:creationId xmlns:a16="http://schemas.microsoft.com/office/drawing/2014/main" id="{537F4AC3-52A0-4EC3-AD8E-1D4DC289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18288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9525">
            <a:solidFill>
              <a:srgbClr val="7FB39E"/>
            </a:solidFill>
            <a:prstDash val="solid"/>
          </a:ln>
        </p:spPr>
      </p:sp>
      <p:sp>
        <p:nvSpPr>
          <p:cNvPr id="20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9D01878B-914F-44A2-A030-EB1FBB54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4D9E1B01-200E-4EDC-88F6-08FDA71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Canary 10%</a:t>
            </a:r>
          </a:p>
        </p:txBody>
      </p:sp>
      <p:sp>
        <p:nvSpPr>
          <p:cNvPr id="22" name="flow-body-4">
            <a:extLst xmlns:a="http://schemas.openxmlformats.org/drawingml/2006/main">
              <a:ext uri="{FF2B5EF4-FFF2-40B4-BE49-F238E27FC236}">
                <a16:creationId xmlns:a16="http://schemas.microsoft.com/office/drawing/2014/main" id="{9795ADBE-5217-4539-8D13-6108E1DE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15 min</a:t>
            </a:r>
          </a:p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error &lt; 0.5%</a:t>
            </a:r>
          </a:p>
        </p:txBody>
      </p:sp>
      <p:sp>
        <p:nvSpPr>
          <p:cNvPr id="23" name="flow-node-5">
            <a:extLst xmlns:a="http://schemas.openxmlformats.org/drawingml/2006/main">
              <a:ext uri="{FF2B5EF4-FFF2-40B4-BE49-F238E27FC236}">
                <a16:creationId xmlns:a16="http://schemas.microsoft.com/office/drawing/2014/main" id="{D10BBADB-AA1C-48A9-B8B9-014EF3A8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8288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9525">
            <a:solidFill>
              <a:srgbClr val="7FB39E"/>
            </a:solidFill>
            <a:prstDash val="solid"/>
          </a:ln>
        </p:spPr>
      </p:sp>
      <p:sp>
        <p:nvSpPr>
          <p:cNvPr id="24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0BE92133-C8E8-4208-AB1F-DD42AF1F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241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7AC42896-DCEA-473F-852D-EF9592EA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Global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B43469DD-FA05-4669-9455-21AC927F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194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staged traffic</a:t>
            </a:r>
          </a:p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30 min hypercare</a:t>
            </a:r>
          </a:p>
        </p:txBody>
      </p:sp>
      <p:sp>
        <p:nvSpPr>
          <p:cNvPr id="27" name="rollback-band">
            <a:extLst xmlns:a="http://schemas.openxmlformats.org/drawingml/2006/main">
              <a:ext uri="{FF2B5EF4-FFF2-40B4-BE49-F238E27FC236}">
                <a16:creationId xmlns:a16="http://schemas.microsoft.com/office/drawing/2014/main" id="{5CAC4BAA-BBAD-485F-B604-B0CC0F22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52950"/>
            <a:ext cx="868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C4C4"/>
            </a:solidFill>
            <a:prstDash val="solid"/>
          </a:ln>
        </p:spPr>
      </p:sp>
      <p:sp>
        <p:nvSpPr>
          <p:cNvPr id="28" name="rollback-text">
            <a:extLst xmlns:a="http://schemas.openxmlformats.org/drawingml/2006/main">
              <a:ext uri="{FF2B5EF4-FFF2-40B4-BE49-F238E27FC236}">
                <a16:creationId xmlns:a16="http://schemas.microsoft.com/office/drawing/2014/main" id="{ACE5BB2D-E9A1-4C3F-A173-7993933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67250"/>
            <a:ext cx="815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ROLLBACK  ·  SLO breach → previous image → INC-2026 bridge</a:t>
            </a:r>
          </a:p>
        </p:txBody>
      </p:sp>
      <p:sp>
        <p:nvSpPr>
          <p:cNvPr id="29" name="footer-2">
            <a:extLst xmlns:a="http://schemas.openxmlformats.org/drawingml/2006/main">
              <a:ext uri="{FF2B5EF4-FFF2-40B4-BE49-F238E27FC236}">
                <a16:creationId xmlns:a16="http://schemas.microsoft.com/office/drawing/2014/main" id="{3CCC8539-15CF-4F2F-AF94-0B5056B8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PROJECT ATLAS  •  RELEASE OPERATIONS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955801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CE19D764-B963-4C0C-8AD1-0FBB72FA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All implementation areas clear the 98% gate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314450"/>
          <a:ext xmlns:a="http://schemas.openxmlformats.org/drawingml/2006/main" cx="6191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9c5dbfa3d0455b"/>
          </a:graphicData>
        </a:graphic>
      </p:graphicFrame>
      <p:sp>
        <p:nvSpPr>
          <p:cNvPr id="3" name="metric-1">
            <a:extLst xmlns:a="http://schemas.openxmlformats.org/drawingml/2006/main">
              <a:ext uri="{FF2B5EF4-FFF2-40B4-BE49-F238E27FC236}">
                <a16:creationId xmlns:a16="http://schemas.microsoft.com/office/drawing/2014/main" id="{57C688F6-9CE4-44EB-905C-25D2FEF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5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F6F28329-1117-4CD5-A338-D090E2A9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478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86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3865F"/>
                </a:solidFill>
                <a:latin typeface="Helvetica Neue"/>
                <a:ea typeface="Helvetica Neue"/>
                <a:cs typeface="Helvetica Neue"/>
              </a:rPr>
              <a:t>76 / 76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A4522D5-09E1-48E4-A88C-63A3FAC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automated tests passed</a:t>
            </a:r>
          </a:p>
        </p:txBody>
      </p:sp>
      <p:sp>
        <p:nvSpPr>
          <p:cNvPr id="6" name="metric-2">
            <a:extLst xmlns:a="http://schemas.openxmlformats.org/drawingml/2006/main">
              <a:ext uri="{FF2B5EF4-FFF2-40B4-BE49-F238E27FC236}">
                <a16:creationId xmlns:a16="http://schemas.microsoft.com/office/drawing/2014/main" id="{2C83367A-C086-47E1-B482-15A6C894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7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DD8426A7-D42C-4977-AC07-71E33EAA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90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124A1746-27EC-46E3-8775-079B4B91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528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build warnings and errors</a:t>
            </a:r>
          </a:p>
        </p:txBody>
      </p:sp>
      <p:sp>
        <p:nvSpPr>
          <p:cNvPr id="9" name="metric-3">
            <a:extLst xmlns:a="http://schemas.openxmlformats.org/drawingml/2006/main">
              <a:ext uri="{FF2B5EF4-FFF2-40B4-BE49-F238E27FC236}">
                <a16:creationId xmlns:a16="http://schemas.microsoft.com/office/drawing/2014/main" id="{D5B608EB-E910-499F-8BF4-1F43786D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005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B8238D6B-2190-4B61-B27B-24727F3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6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A66B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B65BD13A-0417-486B-8A0D-FA07BCFF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958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documentation actions remain</a:t>
            </a:r>
          </a:p>
        </p:txBody>
      </p:sp>
      <p:sp>
        <p:nvSpPr>
          <p:cNvPr id="12" name="footer-3">
            <a:extLst xmlns:a="http://schemas.openxmlformats.org/drawingml/2006/main">
              <a:ext uri="{FF2B5EF4-FFF2-40B4-BE49-F238E27FC236}">
                <a16:creationId xmlns:a16="http://schemas.microsoft.com/office/drawing/2014/main" id="{DADEED0F-A051-402D-BBE5-DFD9129C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PROJECT ATLAS  •  RELEASE OPERATIONS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2124482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andoff-title">
            <a:extLst xmlns:a="http://schemas.openxmlformats.org/drawingml/2006/main">
              <a:ext uri="{FF2B5EF4-FFF2-40B4-BE49-F238E27FC236}">
                <a16:creationId xmlns:a16="http://schemas.microsoft.com/office/drawing/2014/main" id="{81921CEE-9A60-4E1D-9C43-155EA8A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Close two documentation actions, then open the window</a:t>
            </a:r>
          </a:p>
        </p:txBody>
      </p:sp>
      <p:sp>
        <p:nvSpPr>
          <p:cNvPr id="2" name="handoff-body">
            <a:extLst xmlns:a="http://schemas.openxmlformats.org/drawingml/2006/main">
              <a:ext uri="{FF2B5EF4-FFF2-40B4-BE49-F238E27FC236}">
                <a16:creationId xmlns:a16="http://schemas.microsoft.com/office/drawing/2014/main" id="{EB103BB9-9FEB-4121-B69A-B8F6541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Release Manager owns the final change-ticket decision; Platform Engineering owns rollout, rollback, and hypercare.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866900"/>
          <a:ext xmlns:a="http://schemas.openxmlformats.org/drawingml/2006/main" cx="113919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43125"/>
                <a:gridCol w="2000250"/>
                <a:gridCol w="1428750"/>
                <a:gridCol w="5819775"/>
              </a:tblGrid>
              <a:tr h="5715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Exit evidence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 · Preservation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Format Team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Unknown parts and raw slices retained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 · Integrity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Team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Markers, graph, map, and hashes verified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 · Security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AppSec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DTD, external rels, and risky formulas blocked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 · 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A66B00"/>
                          </a:solidFill>
                        </a:rPr>
                        <a:t>REVIEW</a:t>
                      </a:r>
                    </a:p>
                  </a:txBody>
                  <a:tcPr marL="91440" marR="91440" marT="45720" marB="45720">
                    <a:solidFill>
                      <a:srgbClr val="FFF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Add notes-boundary and OCR-confidence disclosures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handoff-decision">
            <a:extLst xmlns:a="http://schemas.openxmlformats.org/drawingml/2006/main">
              <a:ext uri="{FF2B5EF4-FFF2-40B4-BE49-F238E27FC236}">
                <a16:creationId xmlns:a16="http://schemas.microsoft.com/office/drawing/2014/main" id="{727B1A25-C60B-45E3-B793-CACE7CEC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6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865F"/>
                </a:solidFill>
                <a:latin typeface="Helvetica Neue"/>
                <a:ea typeface="Helvetica Neue"/>
                <a:cs typeface="Helvetica Neue"/>
              </a:rPr>
              <a:t>Decision after closure: GO</a:t>
            </a:r>
          </a:p>
        </p:txBody>
      </p:sp>
      <p:sp>
        <p:nvSpPr>
          <p:cNvPr id="5" name="handoff-sentinel">
            <a:extLst xmlns:a="http://schemas.openxmlformats.org/drawingml/2006/main">
              <a:ext uri="{FF2B5EF4-FFF2-40B4-BE49-F238E27FC236}">
                <a16:creationId xmlns:a16="http://schemas.microsoft.com/office/drawing/2014/main" id="{6111D6CD-3B18-44F1-9CCE-2BE3232A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625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Preservation sentinel: PPTX-PRESERVE-OPS-2026</a:t>
            </a:r>
          </a:p>
        </p:txBody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715A0707-4F4E-4871-8033-F1F09185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B7C"/>
                </a:solidFill>
                <a:latin typeface="Helvetica Neue"/>
                <a:ea typeface="Helvetica Neue"/>
                <a:cs typeface="Helvetica Neue"/>
              </a:rPr>
              <a:t>PROJECT ATLAS  •  RELEASE OPERATIONS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726838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2026-08-21T03:32:47.5030000Z</dcterms:created>
  <dcterms:modified xsi:type="dcterms:W3CDTF">2026-08-21T03:32:47.5030000Z</dcterms:modified>
</coreProperties>
</file>
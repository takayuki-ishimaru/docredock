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テスト実施サマリー（07_テストシナリオ 7.2）</a:t>
            </a:r>
          </a:p>
        </c:rich>
      </c:tx>
      <c:layout/>
      <c:overlay val="0"/>
    </c:title>
    <c:autoTitleDeleted val="0"/>
    <c:plotArea>
      <c:barChart>
        <c:barDir val="col"/>
        <c:grouping val="clustered"/>
        <c:ser>
          <c:idx val="0"/>
          <c:order val="0"/>
          <c:tx>
            <c:strRef>
              <c:f>Sheet1!$B$1</c:f>
              <c:strCache>
                <c:ptCount val="1"/>
                <c:pt idx="0">
                  <c:v>テストケース件数（総件数9）</c:v>
                </c:pt>
              </c:strCache>
            </c:strRef>
          </c:tx>
          <c:cat>
            <c:strRef>
              <c:f>Sheet1!$A$2:$A$4</c:f>
              <c:strCache>
                <c:ptCount val="3"/>
                <c:pt idx="0">
                  <c:v>合格</c:v>
                </c:pt>
                <c:pt idx="1">
                  <c:v>不合格</c:v>
                </c:pt>
                <c:pt idx="2">
                  <c:v>未実施</c:v>
                </c:pt>
              </c:strCache>
            </c:strRef>
          </c:cat>
          <c:val>
            <c:numRef>
              <c:f>Sheet1!$B$2:$B$4</c:f>
              <c:numCache>
                <c:formatCode>General</c:formatCode>
                <c:ptCount val="3"/>
                <c:pt idx="0">
                  <c:v>0</c:v>
                </c:pt>
                <c:pt idx="1">
                  <c:v>0</c:v>
                </c:pt>
                <c:pt idx="2">
                  <c:v>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t>経費区分内訳（例示、F-05税区分ベース）</a:t>
            </a:r>
          </a:p>
        </c:rich>
      </c:tx>
      <c:layout/>
      <c:overlay val="0"/>
    </c:title>
    <c:autoTitleDeleted val="0"/>
    <c:plotArea>
      <c:pieChart>
        <c:varyColors val="1"/>
        <c:ser>
          <c:idx val="0"/>
          <c:order val="0"/>
          <c:tx>
            <c:strRef>
              <c:f>Sheet1!$B$1</c:f>
              <c:strCache>
                <c:ptCount val="1"/>
                <c:pt idx="0">
                  <c:v>経費区分内訳（税区分ベース・例示、F-05）</c:v>
                </c:pt>
              </c:strCache>
            </c:strRef>
          </c:tx>
          <c:cat>
            <c:strRef>
              <c:f>Sheet1!$A$2:$A$4</c:f>
              <c:strCache>
                <c:ptCount val="3"/>
                <c:pt idx="0">
                  <c:v>標準10%（STANDARD）</c:v>
                </c:pt>
                <c:pt idx="1">
                  <c:v>軽減8%（REDUCED）</c:v>
                </c:pt>
                <c:pt idx="2">
                  <c:v>非課税（EXEMPT）</c:v>
                </c:pt>
              </c:strCache>
            </c:strRef>
          </c:cat>
          <c:val>
            <c:numRef>
              <c:f>Sheet1!$B$2:$B$4</c:f>
              <c:numCache>
                <c:formatCode>General</c:formatCode>
                <c:ptCount val="3"/>
                <c:pt idx="0">
                  <c:v>58</c:v>
                </c:pt>
                <c:pt idx="1">
                  <c:v>27</c:v>
                </c:pt>
                <c:pt idx="2">
                  <c:v>15</c:v>
                </c:pt>
              </c:numCache>
            </c:numRef>
          </c:val>
        </c:ser>
      </c:pieChart>
    </c:plotArea>
    <c:dispBlanksAs val="gap"/>
  </c:chart>
  <c:txPr>
    <a:bodyPr/>
    <a:lstStyle/>
    <a:p>
      <a:pPr>
        <a:defRPr sz="1800"/>
      </a:pPr>
      <a:endParaRPr lang="en-US"/>
    </a:p>
  </c:txPr>
  <c:externalData r:id="rId1">
    <c:autoUpdate val="0"/>
  </c:externalData>
</c:chartSpace>
</file>

<file path=ppt/diagrams/colors1.xml><?xml version="1.0" encoding="utf-8"?>
<dgm:colorsDefHdrLst xmlns:dgm="http://schemas.openxmlformats.org/drawingml/2006/diagram">
  <dgm:colorsDefHdr uniqueId="urn:rtmd:fixture:csmin" minVer="http://schemas.openxmlformats.org/drawingml/2006/diagram">
    <dgm:title val=""/>
    <dgm:desc val=""/>
    <dgm:catLst>
      <dgm:cat type="accent1" pri="1"/>
    </dgm:catLst>
  </dgm:colorsDefHdr>
</dgm:colorsDefHdrLst>
</file>

<file path=ppt/diagrams/data1.xml><?xml version="1.0" encoding="utf-8"?>
<dgm:dataModel xmlns:dgm="http://schemas.openxmlformats.org/drawingml/2006/diagram" xmlns:a="http://schemas.openxmlformats.org/drawingml/2006/main" xmlns:r="http://schemas.openxmlformats.org/officeDocument/2006/relationships">
  <dgm:ptLst>
    <dgm:pt modelId="{A0000000-0000-0000-0000-000000000000}" type="doc">
      <dgm:prSet loTypeId="urn:microsoft.com/office/officeart/2005/8/layout/process1" loCatId="list" qsTypeId="urn:microsoft.com/office/officeart/2005/8/quickstyle/simple1" qsCatId="simple" csTypeId="urn:microsoft.com/office/officeart/2005/8/colors/accent1_2" csCatId="accent1"/>
    </dgm:pt>
    <dgm:pt modelId="{B0000000-0000-0000-0000-000000000000}">
      <dgm:prSet/>
      <dgm:t>
        <a:bodyPr/>
        <a:lstStyle/>
        <a:p>
          <a:r>
            <a:rPr lang="ja-JP" dirty="0"/>
            <a:t>申請受付</a:t>
          </a:r>
        </a:p>
      </dgm:t>
    </dgm:pt>
    <dgm:pt modelId="{C0000000-0000-0000-0000-000000000000}" type="parTrans" cxnId="{E0000000-0000-0000-0000-000000000000}">
      <dgm:prSet/>
      <dgm:spPr/>
    </dgm:pt>
    <dgm:pt modelId="{D0000000-0000-0000-0000-000000000000}" type="sibTrans" cxnId="{E0000000-0000-0000-0000-000000000000}">
      <dgm:prSet/>
      <dgm:spPr/>
    </dgm:pt>
    <dgm:pt modelId="{B0000001-0000-0000-0000-000000000000}">
      <dgm:prSet/>
      <dgm:t>
        <a:bodyPr/>
        <a:lstStyle/>
        <a:p>
          <a:r>
            <a:rPr lang="ja-JP" dirty="0"/>
            <a:t>課長承認(≤10万円)</a:t>
          </a:r>
        </a:p>
      </dgm:t>
    </dgm:pt>
    <dgm:pt modelId="{C0000001-0000-0000-0000-000000000000}" type="parTrans" cxnId="{E0000001-0000-0000-0000-000000000000}">
      <dgm:prSet/>
      <dgm:spPr/>
    </dgm:pt>
    <dgm:pt modelId="{D0000001-0000-0000-0000-000000000000}" type="sibTrans" cxnId="{E0000001-0000-0000-0000-000000000000}">
      <dgm:prSet/>
      <dgm:spPr/>
    </dgm:pt>
    <dgm:pt modelId="{B0000002-0000-0000-0000-000000000000}">
      <dgm:prSet/>
      <dgm:t>
        <a:bodyPr/>
        <a:lstStyle/>
        <a:p>
          <a:r>
            <a:rPr lang="ja-JP" dirty="0"/>
            <a:t>部長承認(&gt;10万円)</a:t>
          </a:r>
        </a:p>
      </dgm:t>
    </dgm:pt>
    <dgm:pt modelId="{C0000002-0000-0000-0000-000000000000}" type="parTrans" cxnId="{E0000002-0000-0000-0000-000000000000}">
      <dgm:prSet/>
      <dgm:spPr/>
    </dgm:pt>
    <dgm:pt modelId="{D0000002-0000-0000-0000-000000000000}" type="sibTrans" cxnId="{E0000002-0000-0000-0000-000000000000}">
      <dgm:prSet/>
      <dgm:spPr/>
    </dgm:pt>
    <dgm:pt modelId="{B0000003-0000-0000-0000-000000000000}">
      <dgm:prSet/>
      <dgm:t>
        <a:bodyPr/>
        <a:lstStyle/>
        <a:p>
          <a:r>
            <a:rPr lang="ja-JP" dirty="0"/>
            <a:t>会計連携</a:t>
          </a:r>
        </a:p>
      </dgm:t>
    </dgm:pt>
    <dgm:pt modelId="{C0000003-0000-0000-0000-000000000000}" type="parTrans" cxnId="{E0000003-0000-0000-0000-000000000000}">
      <dgm:prSet/>
      <dgm:spPr/>
    </dgm:pt>
    <dgm:pt modelId="{D0000003-0000-0000-0000-000000000000}" type="sibTrans" cxnId="{E0000003-0000-0000-0000-000000000000}">
      <dgm:prSet/>
      <dgm:spPr/>
    </dgm:pt>
    <dgm:pt modelId="{B0000004-0000-0000-0000-000000000000}">
      <dgm:prSet/>
      <dgm:t>
        <a:bodyPr/>
        <a:lstStyle/>
        <a:p>
          <a:r>
            <a:rPr lang="ja-JP" dirty="0"/>
            <a:t>支払確定</a:t>
          </a:r>
        </a:p>
      </dgm:t>
    </dgm:pt>
    <dgm:pt modelId="{C0000004-0000-0000-0000-000000000000}" type="parTrans" cxnId="{E0000004-0000-0000-0000-000000000000}">
      <dgm:prSet/>
      <dgm:spPr/>
    </dgm:pt>
    <dgm:pt modelId="{D0000004-0000-0000-0000-000000000000}" type="sibTrans" cxnId="{E0000004-0000-0000-0000-000000000000}">
      <dgm:prSet/>
      <dgm:spPr/>
    </dgm:pt>
  </dgm:ptLst>
  <dgm:cxnLst>
    <dgm:cxn modelId="{E0000000-0000-0000-0000-000000000000}" type="parOf" srcId="{A0000000-0000-0000-0000-000000000000}" destId="{B0000000-0000-0000-0000-000000000000}" srcOrd="0" destOrd="0" parTransId="{C0000000-0000-0000-0000-000000000000}" sibTransId="{D0000000-0000-0000-0000-000000000000}"/>
    <dgm:cxn modelId="{E0000001-0000-0000-0000-000000000000}" type="parOf" srcId="{A0000000-0000-0000-0000-000000000000}" destId="{B0000001-0000-0000-0000-000000000000}" srcOrd="1" destOrd="0" parTransId="{C0000001-0000-0000-0000-000000000000}" sibTransId="{D0000001-0000-0000-0000-000000000000}"/>
    <dgm:cxn modelId="{E0000002-0000-0000-0000-000000000000}" type="parOf" srcId="{A0000000-0000-0000-0000-000000000000}" destId="{B0000002-0000-0000-0000-000000000000}" srcOrd="2" destOrd="0" parTransId="{C0000002-0000-0000-0000-000000000000}" sibTransId="{D0000002-0000-0000-0000-000000000000}"/>
    <dgm:cxn modelId="{E0000003-0000-0000-0000-000000000000}" type="parOf" srcId="{A0000000-0000-0000-0000-000000000000}" destId="{B0000003-0000-0000-0000-000000000000}" srcOrd="3" destOrd="0" parTransId="{C0000003-0000-0000-0000-000000000000}" sibTransId="{D0000003-0000-0000-0000-000000000000}"/>
    <dgm:cxn modelId="{E0000004-0000-0000-0000-000000000000}" type="parOf" srcId="{A0000000-0000-0000-0000-000000000000}" destId="{B0000004-0000-0000-0000-000000000000}" srcOrd="4" destOrd="0" parTransId="{C0000004-0000-0000-0000-000000000000}" sibTransId="{D0000004-0000-0000-0000-000000000000}"/>
  </dgm:cxnLst>
  <dgm:bg/>
  <dgm:whole/>
</dgm:dataModel>
</file>

<file path=ppt/diagrams/layout1.xml><?xml version="1.0" encoding="utf-8"?>
<dgm:layoutDef xmlns:dgm="http://schemas.openxmlformats.org/drawingml/2006/diagram" xmlns:a="http://schemas.openxmlformats.org/drawingml/2006/main" xmlns:r="http://schemas.openxmlformats.org/officeDocument/2006/relationships" uniqueId="urn:rtmd:fixture:process1min" minVer="http://schemas.openxmlformats.org/drawingml/2006/diagram" defStyle="urn:microsoft.com/office/officeart/2005/8/quickstyle/simple1">
  <dgm:title val=""/>
  <dgm:desc val=""/>
  <dgm:catLst>
    <dgm:cat type="list" pri="1"/>
  </dgm:catLst>
  <dgm:sampData/>
  <dgm:styleData/>
  <dgm:layoutNode name="root">
    <dgm:varLst>
      <dgm:dir/>
      <dgm:animLvl val="lvl"/>
    </dgm:varLst>
    <dgm:alg type="composite"/>
    <dgm:shape type="none"/>
    <dgm:presOf axis="ch" ptType="node"/>
    <dgm:forEach name="nodesForEach" axis="ch" ptType="node">
      <dgm:layoutNode name="node">
        <dgm:alg type="tx"/>
        <dgm:shape type="rect"/>
        <dgm:presOf axis="desOrSelf" ptType="node"/>
      </dgm:layoutNode>
    </dgm:forEach>
  </dgm:layoutNode>
</dgm:layoutDef>
</file>

<file path=ppt/diagrams/quickStyle1.xml><?xml version="1.0" encoding="utf-8"?>
<dgm:styleDefHdrLst xmlns:dgm="http://schemas.openxmlformats.org/drawingml/2006/diagram" xmlns:a="http://schemas.openxmlformats.org/drawingml/2006/main">
  <dgm:styleDefHdr uniqueId="urn:rtmd:fixture:qsmin" minVer="http://schemas.openxmlformats.org/drawingml/2006/diagram">
    <dgm:title val=""/>
    <dgm:desc val=""/>
    <dgm:catLst>
      <dgm:cat type="simple" pri="1"/>
    </dgm:catLst>
  </dgm:styleDefHdr>
</dgm:styleDefHdr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400">
                <a:latin typeface="Yu Gothic"/>
              </a:rPr>
              <a:t>レビュー進行メモ</a:t>
            </a:r>
          </a:p>
          <a:p>
            <a:pPr>
              <a:buFont typeface="Yu Gothic"/>
              <a:buChar char="‣"/>
            </a:pPr>
            <a:r>
              <a:rPr sz="1200">
                <a:latin typeface="Yu Gothic"/>
              </a:rPr>
              <a:t>状態遷移とAPI契約の整合性を重点確認。</a:t>
            </a:r>
          </a:p>
          <a:p>
            <a:pPr>
              <a:buFont typeface="Yu Gothic"/>
              <a:buChar char="‣"/>
            </a:pPr>
            <a:r>
              <a:rPr sz="1200">
                <a:latin typeface="Yu Gothic"/>
              </a:rPr>
              <a:t>非機能要件（NFR-AVL-02）は基盤担当に確認依頼中。</a:t>
            </a:r>
          </a:p>
          <a:p>
            <a:pPr>
              <a:buFont typeface="Yu Gothic"/>
              <a:buChar char="‣"/>
            </a:pPr>
            <a:r>
              <a:rPr sz="1200">
                <a:latin typeface="Yu Gothic"/>
              </a:rPr>
              <a:t>画像・OCR検証はQA環境で別途実施。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DgmData" Type="http://schemas.openxmlformats.org/officeDocument/2006/relationships/diagramData" Target="../diagrams/data1.xml"/><Relationship Id="rIdDgmLayout" Type="http://schemas.openxmlformats.org/officeDocument/2006/relationships/diagramLayout" Target="../diagrams/layout1.xml"/><Relationship Id="rIdDgmQuickStyle" Type="http://schemas.openxmlformats.org/officeDocument/2006/relationships/diagramQuickStyle" Target="../diagrams/quickStyle1.xml"/><Relationship Id="rIdDgmColors" Type="http://schemas.openxmlformats.org/officeDocument/2006/relationships/diagramColors" Target="../diagrams/colors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400">
                <a:solidFill>
                  <a:srgbClr val="17365D"/>
                </a:solidFill>
                <a:latin typeface="Yu Gothic"/>
              </a:rPr>
              <a:t>経費精算システム　基本・詳細設計書</a:t>
            </a:r>
          </a:p>
        </p:txBody>
      </p:sp>
      <p:sp>
        <p:nvSpPr>
          <p:cNvPr id="3" name="Subtitle 2"/>
          <p:cNvSpPr>
            <a:spLocks noGrp="1"/>
          </p:cNvSpPr>
          <p:nvPr>
            <p:ph type="subTitle" idx="1"/>
          </p:nvPr>
        </p:nvSpPr>
        <p:spPr/>
        <p:txBody>
          <a:bodyPr wrap="square"/>
          <a:lstStyle/>
          <a:p>
            <a:r>
              <a:rPr sz="1600">
                <a:solidFill>
                  <a:srgbClr val="0B7285"/>
                </a:solidFill>
                <a:latin typeface="Yu Gothic"/>
              </a:rPr>
              <a:t>設計レビュー説明資料（検証用サンプル・架空システム）</a:t>
            </a:r>
          </a:p>
          <a:p>
            <a:r>
              <a:rPr sz="1300">
                <a:solidFill>
                  <a:srgbClr val="667085"/>
                </a:solidFill>
                <a:latin typeface="Yu Gothic"/>
              </a:rPr>
              <a:t>文書番号: EXPS-DES-001　版: 1.2　状態: レビュー中（検証用）</a:t>
            </a:r>
          </a:p>
          <a:p>
            <a:r>
              <a:rPr sz="1300">
                <a:solidFill>
                  <a:srgbClr val="667085"/>
                </a:solidFill>
                <a:latin typeface="Yu Gothic"/>
              </a:rPr>
              <a:t>作成日: 2026-08-23　対象システム: 経費精算システム　機密区分: 社内一般（架空）</a:t>
            </a:r>
          </a:p>
          <a:p>
            <a:r>
              <a:rPr sz="1300">
                <a:solidFill>
                  <a:srgbClr val="667085"/>
                </a:solidFill>
                <a:latin typeface="Yu Gothic"/>
              </a:rPr>
              <a:t>作成者: アプリ設計担当　確認者: 業務・基盤担当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a:solidFill>
                  <a:srgbClr val="17365D"/>
                </a:solidFill>
                <a:latin typeface="Yu Gothic"/>
              </a:rPr>
              <a:t>第1部　システム概要とインターフェース設計</a:t>
            </a:r>
          </a:p>
        </p:txBody>
      </p:sp>
      <p:sp>
        <p:nvSpPr>
          <p:cNvPr id="3" name="Text Placeholder 2"/>
          <p:cNvSpPr>
            <a:spLocks noGrp="1"/>
          </p:cNvSpPr>
          <p:nvPr>
            <p:ph type="body" idx="1"/>
          </p:nvPr>
        </p:nvSpPr>
        <p:spPr/>
        <p:txBody>
          <a:bodyPr wrap="square"/>
          <a:lstStyle/>
          <a:p>
            <a:r>
              <a:rPr sz="1500">
                <a:solidFill>
                  <a:srgbClr val="1F2937"/>
                </a:solidFill>
                <a:latin typeface="Yu Gothic"/>
              </a:rPr>
              <a:t>対象: 経費申請の登録、承認、会計連携、支払結果通知</a:t>
            </a:r>
          </a:p>
          <a:p>
            <a:r>
              <a:rPr sz="1500">
                <a:solidFill>
                  <a:srgbClr val="1F2937"/>
                </a:solidFill>
                <a:latin typeface="Yu Gothic"/>
              </a:rPr>
              <a:t>収録範囲: 概要・状態遷移・API/データ・テスト・非機能・運用・画像検証</a:t>
            </a:r>
          </a:p>
          <a:p>
            <a:r>
              <a:rPr sz="1500">
                <a:solidFill>
                  <a:srgbClr val="1F2937"/>
                </a:solidFill>
                <a:latin typeface="Yu Gothic"/>
              </a:rPr>
              <a:t>原本: 経費精算システム_設計書_検証用.xlsx（全11シート、文書ID doc_90f44c5f76d04d37）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1. システム概要と外部インターフェース</a:t>
            </a:r>
          </a:p>
        </p:txBody>
      </p:sp>
      <p:sp>
        <p:nvSpPr>
          <p:cNvPr id="3" name="Content Placeholder 2"/>
          <p:cNvSpPr>
            <a:spLocks noGrp="1"/>
          </p:cNvSpPr>
          <p:nvPr>
            <p:ph idx="1"/>
          </p:nvPr>
        </p:nvSpPr>
        <p:spPr/>
        <p:txBody>
          <a:bodyPr wrap="square"/>
          <a:lstStyle/>
          <a:p>
            <a:r>
              <a:rPr sz="1500">
                <a:solidFill>
                  <a:srgbClr val="1F2937"/>
                </a:solidFill>
                <a:latin typeface="Yu Gothic"/>
              </a:rPr>
              <a:t>対象システム: 経費精算システム／利用者: 申請者、課長・部長承認者、経理担当者／認証: OIDC・JWT</a:t>
            </a:r>
          </a:p>
          <a:p>
            <a:r>
              <a:rPr sz="1500">
                <a:solidFill>
                  <a:srgbClr val="1F2937"/>
                </a:solidFill>
                <a:latin typeface="Yu Gothic"/>
              </a:rPr>
              <a:t>金額閾値: 100,000円以下は課長承認、100,000円超は部長承認（BR-01）</a:t>
            </a:r>
          </a:p>
          <a:p>
            <a:r>
              <a:rPr sz="1500">
                <a:solidFill>
                  <a:srgbClr val="1F2937"/>
                </a:solidFill>
                <a:latin typeface="Yu Gothic"/>
              </a:rPr>
              <a:t>領収書: 10,000円以上で添付必須。PDF/JPEG/PNG、最大10MB</a:t>
            </a:r>
          </a:p>
          <a:p>
            <a:r>
              <a:rPr sz="1500">
                <a:solidFill>
                  <a:srgbClr val="1F2937"/>
                </a:solidFill>
                <a:latin typeface="Yu Gothic"/>
              </a:rPr>
              <a:t>IF-05: 送信元 Outbox Worker → 送信先 Event Bus（AMQP）。Timeout 5秒、Retry 最大5回。失敗時はDLQへ登録しOPS-ALM-02を発報する。</a:t>
            </a:r>
          </a:p>
          <a:p>
            <a:r>
              <a:rPr sz="1500">
                <a:solidFill>
                  <a:srgbClr val="1F2937"/>
                </a:solidFill>
                <a:latin typeface="Yu Gothic"/>
              </a:rPr>
              <a:t>IF-06: 送信元 Expense API → 送信先 会計System（REST/Batch）。Timeout 10秒、Retry 最大5回。失敗時はERROR遷移・手動再送。</a:t>
            </a:r>
          </a:p>
        </p:txBody>
      </p:sp>
      <p:sp>
        <p:nvSpPr>
          <p:cNvPr id="4" name="Date Placeholder 3"/>
          <p:cNvSpPr>
            <a:spLocks noGrp="1"/>
          </p:cNvSpPr>
          <p:nvPr>
            <p:ph type="dt" sz="half" idx="10"/>
          </p:nvPr>
        </p:nvSpPr>
        <p:spPr/>
        <p:txBody>
          <a:bodyPr/>
          <a:lstStyle/>
          <a:p>
            <a:fld id="{5BCAD085-E8A6-8845-BD4E-CB4CCA059FC4}" type="datetimeFigureOut">
              <a:rPr lang="en-US" smtClean="0"/>
              <a:t>2026-08-23</a:t>
            </a:fld>
            <a:endParaRPr lang="en-US"/>
          </a:p>
        </p:txBody>
      </p:sp>
      <p:sp>
        <p:nvSpPr>
          <p:cNvPr id="5" name="Footer Placeholder 4"/>
          <p:cNvSpPr>
            <a:spLocks noGrp="1"/>
          </p:cNvSpPr>
          <p:nvPr>
            <p:ph type="ftr" sz="quarter" idx="11"/>
          </p:nvPr>
        </p:nvSpPr>
        <p:spPr/>
        <p:txBody>
          <a:bodyPr/>
          <a:lstStyle/>
          <a:p>
            <a:r>
              <a:rPr lang="ja-JP" sz="1200"/>
              <a:t>RTMD PPTX変換検証 / CONFIDENTIAL（検証用）</a:t>
            </a:r>
          </a:p>
        </p:txBody>
      </p:sp>
      <p:sp>
        <p:nvSpPr>
          <p:cNvPr id="6" name="Slide Number Placeholder 5"/>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1.1 設計前提の階層整理</a:t>
            </a:r>
          </a:p>
        </p:txBody>
      </p:sp>
      <p:sp>
        <p:nvSpPr>
          <p:cNvPr id="3" name="Content Placeholder 2"/>
          <p:cNvSpPr>
            <a:spLocks noGrp="1"/>
          </p:cNvSpPr>
          <p:nvPr>
            <p:ph idx="1"/>
          </p:nvPr>
        </p:nvSpPr>
        <p:spPr/>
        <p:txBody>
          <a:bodyPr wrap="square"/>
          <a:lstStyle/>
          <a:p>
            <a:pPr>
              <a:buFont typeface="Yu Gothic"/>
              <a:buChar char="◆"/>
            </a:pPr>
            <a:r>
              <a:rPr sz="2000">
                <a:solidFill>
                  <a:srgbClr val="17365D"/>
                </a:solidFill>
                <a:latin typeface="Yu Gothic"/>
              </a:rPr>
              <a:t>認証・認可</a:t>
            </a:r>
          </a:p>
          <a:p>
            <a:pPr lvl="1">
              <a:buFont typeface="Yu Gothic"/>
              <a:buChar char="●"/>
            </a:pPr>
            <a:r>
              <a:rPr sz="1800">
                <a:solidFill>
                  <a:srgbClr val="1F2937"/>
                </a:solidFill>
                <a:latin typeface="Yu Gothic"/>
              </a:rPr>
              <a:t>OIDC / JWT ベースの認証</a:t>
            </a:r>
          </a:p>
          <a:p>
            <a:pPr lvl="2">
              <a:buFont typeface="Yu Gothic"/>
              <a:buChar char="▪"/>
            </a:pPr>
            <a:r>
              <a:rPr sz="1600">
                <a:solidFill>
                  <a:srgbClr val="1F2937"/>
                </a:solidFill>
                <a:latin typeface="Yu Gothic"/>
              </a:rPr>
              <a:t>Web UI がアクセストークンを Expense API へ送信</a:t>
            </a:r>
          </a:p>
          <a:p>
            <a:pPr lvl="3">
              <a:buFont typeface="Yu Gothic"/>
              <a:buChar char="‒"/>
            </a:pPr>
            <a:r>
              <a:rPr sz="1400">
                <a:solidFill>
                  <a:srgbClr val="1F2937"/>
                </a:solidFill>
                <a:latin typeface="Yu Gothic"/>
              </a:rPr>
              <a:t>承認 API は承認者ロールのみ実行可（NFR-SEC-01）</a:t>
            </a:r>
          </a:p>
          <a:p>
            <a:pPr>
              <a:buFont typeface="Yu Gothic"/>
              <a:buChar char="◆"/>
            </a:pPr>
            <a:r>
              <a:rPr sz="2000">
                <a:solidFill>
                  <a:srgbClr val="17365D"/>
                </a:solidFill>
                <a:latin typeface="Yu Gothic"/>
              </a:rPr>
              <a:t>金額閾値と承認経路</a:t>
            </a:r>
          </a:p>
          <a:p>
            <a:pPr lvl="1">
              <a:buFont typeface="Yu Gothic"/>
              <a:buChar char="●"/>
            </a:pPr>
            <a:r>
              <a:rPr sz="1800">
                <a:solidFill>
                  <a:srgbClr val="1F2937"/>
                </a:solidFill>
                <a:latin typeface="Yu Gothic"/>
              </a:rPr>
              <a:t>100,000円以下は課長承認（BR-01）</a:t>
            </a:r>
          </a:p>
          <a:p>
            <a:pPr lvl="1">
              <a:buFont typeface="Yu Gothic"/>
              <a:buChar char="●"/>
            </a:pPr>
            <a:r>
              <a:rPr sz="1800">
                <a:solidFill>
                  <a:srgbClr val="1F2937"/>
                </a:solidFill>
                <a:latin typeface="Yu Gothic"/>
              </a:rPr>
              <a:t>100,000円超は部長承認（BR-01）</a:t>
            </a:r>
          </a:p>
          <a:p>
            <a:pPr>
              <a:buFont typeface="Yu Gothic"/>
              <a:buChar char="◆"/>
            </a:pPr>
            <a:r>
              <a:rPr sz="2000">
                <a:solidFill>
                  <a:srgbClr val="17365D"/>
                </a:solidFill>
                <a:latin typeface="Yu Gothic"/>
              </a:rPr>
              <a:t>領収書の取り扱い</a:t>
            </a:r>
          </a:p>
          <a:p>
            <a:pPr lvl="1">
              <a:buFont typeface="Yu Gothic"/>
              <a:buChar char="●"/>
            </a:pPr>
            <a:r>
              <a:rPr sz="1800">
                <a:solidFill>
                  <a:srgbClr val="1F2937"/>
                </a:solidFill>
                <a:latin typeface="Yu Gothic"/>
              </a:rPr>
              <a:t>10,000円以上で添付必須（F-06）</a:t>
            </a:r>
          </a:p>
          <a:p>
            <a:pPr lvl="2">
              <a:buFont typeface="Yu Gothic"/>
              <a:buChar char="▪"/>
            </a:pPr>
            <a:r>
              <a:rPr sz="1600">
                <a:solidFill>
                  <a:srgbClr val="1F2937"/>
                </a:solidFill>
                <a:latin typeface="Yu Gothic"/>
              </a:rPr>
              <a:t>PDF / JPEG / PNG、最大10MB</a:t>
            </a:r>
          </a:p>
          <a:p>
            <a:pPr>
              <a:buFont typeface="Yu Gothic"/>
              <a:buChar char="◆"/>
            </a:pPr>
            <a:r>
              <a:rPr sz="2000">
                <a:solidFill>
                  <a:srgbClr val="17365D"/>
                </a:solidFill>
                <a:latin typeface="Yu Gothic"/>
              </a:rPr>
              <a:t>可用性</a:t>
            </a:r>
          </a:p>
          <a:p>
            <a:pPr lvl="1">
              <a:buFont typeface="Yu Gothic"/>
              <a:buChar char="●"/>
            </a:pPr>
            <a:r>
              <a:rPr sz="1800">
                <a:solidFill>
                  <a:srgbClr val="1F2937"/>
                </a:solidFill>
                <a:latin typeface="Yu Gothic"/>
              </a:rPr>
              <a:t>平日8:00-22:00、月間稼働率99.9%目標（NFR-AVL-01）</a:t>
            </a:r>
          </a:p>
        </p:txBody>
      </p:sp>
      <p:sp>
        <p:nvSpPr>
          <p:cNvPr id="4" name="Date Placeholder 3"/>
          <p:cNvSpPr>
            <a:spLocks noGrp="1"/>
          </p:cNvSpPr>
          <p:nvPr>
            <p:ph type="dt" sz="half" idx="10"/>
          </p:nvPr>
        </p:nvSpPr>
        <p:spPr/>
        <p:txBody>
          <a:bodyPr/>
          <a:lstStyle/>
          <a:p>
            <a:fld id="{5BCAD085-E8A6-8845-BD4E-CB4CCA059FC4}" type="datetimeFigureOut">
              <a:rPr lang="en-US" smtClean="0"/>
              <a:t>2026-08-23</a:t>
            </a:fld>
            <a:endParaRPr lang="en-US"/>
          </a:p>
        </p:txBody>
      </p:sp>
      <p:sp>
        <p:nvSpPr>
          <p:cNvPr id="5" name="Footer Placeholder 4"/>
          <p:cNvSpPr>
            <a:spLocks noGrp="1"/>
          </p:cNvSpPr>
          <p:nvPr>
            <p:ph type="ftr" sz="quarter" idx="11"/>
          </p:nvPr>
        </p:nvSpPr>
        <p:spPr/>
        <p:txBody>
          <a:bodyPr/>
          <a:lstStyle/>
          <a:p>
            <a:r>
              <a:rPr lang="ja-JP" sz="1200"/>
              <a:t>RTMD PPTX変換検証 / CONFIDENTIAL（検証用）</a:t>
            </a:r>
          </a:p>
        </p:txBody>
      </p:sp>
      <p:sp>
        <p:nvSpPr>
          <p:cNvPr id="6" name="Slide Number Placeholder 5"/>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2.2 状態遷移設計（申請ライフサイクル）</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5</a:t>
            </a:fld>
            <a:endParaRPr lang="en-US"/>
          </a:p>
        </p:txBody>
      </p:sp>
      <p:grpSp>
        <p:nvGrpSpPr>
          <p:cNvPr id="15" name="状態遷移グループ（9状態）"/>
          <p:cNvGrpSpPr/>
          <p:nvPr/>
        </p:nvGrpSpPr>
        <p:grpSpPr>
          <a:xfrm>
            <a:off x="320040" y="1417320"/>
            <a:ext cx="9829800" cy="1920240"/>
            <a:chOff x="320040" y="1417320"/>
            <a:chExt cx="9829800" cy="1920240"/>
          </a:xfrm>
        </p:grpSpPr>
        <p:sp>
          <p:nvSpPr>
            <p:cNvPr id="6" name="Rounded Rectangle 5"/>
            <p:cNvSpPr/>
            <p:nvPr/>
          </p:nvSpPr>
          <p:spPr>
            <a:xfrm>
              <a:off x="320040" y="1417320"/>
              <a:ext cx="141732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DRAFT</a:t>
              </a:r>
            </a:p>
            <a:p>
              <a:pPr algn="ctr"/>
              <a:r>
                <a:rPr sz="900">
                  <a:solidFill>
                    <a:srgbClr val="FFFFFF"/>
                  </a:solidFill>
                  <a:latin typeface="Yu Gothic"/>
                </a:rPr>
                <a:t>下書き</a:t>
              </a:r>
            </a:p>
          </p:txBody>
        </p:sp>
        <p:sp>
          <p:nvSpPr>
            <p:cNvPr id="7" name="Rounded Rectangle 6"/>
            <p:cNvSpPr/>
            <p:nvPr/>
          </p:nvSpPr>
          <p:spPr>
            <a:xfrm>
              <a:off x="1965960" y="1417320"/>
              <a:ext cx="141732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SUBMITTED</a:t>
              </a:r>
            </a:p>
            <a:p>
              <a:pPr algn="ctr"/>
              <a:r>
                <a:rPr sz="900">
                  <a:solidFill>
                    <a:srgbClr val="FFFFFF"/>
                  </a:solidFill>
                  <a:latin typeface="Yu Gothic"/>
                </a:rPr>
                <a:t>提出済</a:t>
              </a:r>
            </a:p>
          </p:txBody>
        </p:sp>
        <p:sp>
          <p:nvSpPr>
            <p:cNvPr id="8" name="Rounded Rectangle 7"/>
            <p:cNvSpPr/>
            <p:nvPr/>
          </p:nvSpPr>
          <p:spPr>
            <a:xfrm>
              <a:off x="3611880" y="1417320"/>
              <a:ext cx="141732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PENDING</a:t>
              </a:r>
            </a:p>
            <a:p>
              <a:pPr algn="ctr"/>
              <a:r>
                <a:rPr sz="900">
                  <a:solidFill>
                    <a:srgbClr val="FFFFFF"/>
                  </a:solidFill>
                  <a:latin typeface="Yu Gothic"/>
                </a:rPr>
                <a:t>承認待ち</a:t>
              </a:r>
            </a:p>
          </p:txBody>
        </p:sp>
        <p:sp>
          <p:nvSpPr>
            <p:cNvPr id="9" name="Rounded Rectangle 8"/>
            <p:cNvSpPr/>
            <p:nvPr/>
          </p:nvSpPr>
          <p:spPr>
            <a:xfrm>
              <a:off x="5257800" y="1417320"/>
              <a:ext cx="141732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APPROVED</a:t>
              </a:r>
            </a:p>
            <a:p>
              <a:pPr algn="ctr"/>
              <a:r>
                <a:rPr sz="900">
                  <a:solidFill>
                    <a:srgbClr val="FFFFFF"/>
                  </a:solidFill>
                  <a:latin typeface="Yu Gothic"/>
                </a:rPr>
                <a:t>承認済</a:t>
              </a:r>
            </a:p>
          </p:txBody>
        </p:sp>
        <p:sp>
          <p:nvSpPr>
            <p:cNvPr id="10" name="Rounded Rectangle 9"/>
            <p:cNvSpPr/>
            <p:nvPr/>
          </p:nvSpPr>
          <p:spPr>
            <a:xfrm>
              <a:off x="6903720" y="1417320"/>
              <a:ext cx="160020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PAYMENT_PENDING</a:t>
              </a:r>
            </a:p>
            <a:p>
              <a:pPr algn="ctr"/>
              <a:r>
                <a:rPr sz="900">
                  <a:solidFill>
                    <a:srgbClr val="FFFFFF"/>
                  </a:solidFill>
                  <a:latin typeface="Yu Gothic"/>
                </a:rPr>
                <a:t>支払待ち</a:t>
              </a:r>
            </a:p>
          </p:txBody>
        </p:sp>
        <p:sp>
          <p:nvSpPr>
            <p:cNvPr id="11" name="Rounded Rectangle 10"/>
            <p:cNvSpPr/>
            <p:nvPr/>
          </p:nvSpPr>
          <p:spPr>
            <a:xfrm>
              <a:off x="8732520" y="1417320"/>
              <a:ext cx="1417320" cy="640080"/>
            </a:xfrm>
            <a:prstGeom prst="roundRect">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PAID</a:t>
              </a:r>
            </a:p>
            <a:p>
              <a:pPr algn="ctr"/>
              <a:r>
                <a:rPr sz="900">
                  <a:solidFill>
                    <a:srgbClr val="FFFFFF"/>
                  </a:solidFill>
                  <a:latin typeface="Yu Gothic"/>
                </a:rPr>
                <a:t>支払済</a:t>
              </a:r>
            </a:p>
          </p:txBody>
        </p:sp>
        <p:sp>
          <p:nvSpPr>
            <p:cNvPr id="12" name="Rounded Rectangle 11"/>
            <p:cNvSpPr/>
            <p:nvPr/>
          </p:nvSpPr>
          <p:spPr>
            <a:xfrm>
              <a:off x="320040" y="2697480"/>
              <a:ext cx="1417320" cy="640080"/>
            </a:xfrm>
            <a:prstGeom prst="roundRect">
              <a:avLst/>
            </a:prstGeom>
            <a:solidFill>
              <a:srgbClr val="0B72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CANCELLED</a:t>
              </a:r>
            </a:p>
            <a:p>
              <a:pPr algn="ctr"/>
              <a:r>
                <a:rPr sz="900">
                  <a:solidFill>
                    <a:srgbClr val="FFFFFF"/>
                  </a:solidFill>
                  <a:latin typeface="Yu Gothic"/>
                </a:rPr>
                <a:t>取消</a:t>
              </a:r>
            </a:p>
          </p:txBody>
        </p:sp>
        <p:sp>
          <p:nvSpPr>
            <p:cNvPr id="13" name="Rounded Rectangle 12"/>
            <p:cNvSpPr/>
            <p:nvPr/>
          </p:nvSpPr>
          <p:spPr>
            <a:xfrm>
              <a:off x="3611880" y="2697480"/>
              <a:ext cx="1417320" cy="640080"/>
            </a:xfrm>
            <a:prstGeom prst="roundRect">
              <a:avLst/>
            </a:prstGeom>
            <a:solidFill>
              <a:srgbClr val="0B72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RETURNED</a:t>
              </a:r>
            </a:p>
            <a:p>
              <a:pPr algn="ctr"/>
              <a:r>
                <a:rPr sz="900">
                  <a:solidFill>
                    <a:srgbClr val="FFFFFF"/>
                  </a:solidFill>
                  <a:latin typeface="Yu Gothic"/>
                </a:rPr>
                <a:t>差戻し</a:t>
              </a:r>
            </a:p>
          </p:txBody>
        </p:sp>
        <p:sp>
          <p:nvSpPr>
            <p:cNvPr id="14" name="Rounded Rectangle 13"/>
            <p:cNvSpPr/>
            <p:nvPr/>
          </p:nvSpPr>
          <p:spPr>
            <a:xfrm>
              <a:off x="6903720" y="2697480"/>
              <a:ext cx="1600200" cy="640080"/>
            </a:xfrm>
            <a:prstGeom prst="roundRect">
              <a:avLst/>
            </a:prstGeom>
            <a:solidFill>
              <a:srgbClr val="0B72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FFFFFF"/>
                  </a:solidFill>
                  <a:latin typeface="Yu Gothic"/>
                </a:rPr>
                <a:t>ERROR</a:t>
              </a:r>
            </a:p>
            <a:p>
              <a:pPr algn="ctr"/>
              <a:r>
                <a:rPr sz="900">
                  <a:solidFill>
                    <a:srgbClr val="FFFFFF"/>
                  </a:solidFill>
                  <a:latin typeface="Yu Gothic"/>
                </a:rPr>
                <a:t>連携エラー</a:t>
              </a:r>
            </a:p>
          </p:txBody>
        </p:sp>
      </p:grpSp>
      <p:cxnSp>
        <p:nvCxnSpPr>
          <p:cNvPr id="16" name="Connector 15"/>
          <p:cNvCxnSpPr>
            <a:stCxn id="6" idx="1"/>
            <a:endCxn id="7" idx="3"/>
          </p:cNvCxnSpPr>
          <p:nvPr/>
        </p:nvCxnSpPr>
        <p:spPr>
          <a:xfrm flipV="1">
            <a:off x="320040" y="1737360"/>
            <a:ext cx="3063240" cy="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a:stCxn id="7" idx="1"/>
            <a:endCxn id="8" idx="3"/>
          </p:cNvCxnSpPr>
          <p:nvPr/>
        </p:nvCxnSpPr>
        <p:spPr>
          <a:xfrm flipV="1">
            <a:off x="1965960" y="1737360"/>
            <a:ext cx="3063240" cy="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a:stCxn id="8" idx="1"/>
            <a:endCxn id="9" idx="3"/>
          </p:cNvCxnSpPr>
          <p:nvPr/>
        </p:nvCxnSpPr>
        <p:spPr>
          <a:xfrm flipV="1">
            <a:off x="3611880" y="1737360"/>
            <a:ext cx="3063240" cy="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a:stCxn id="8" idx="2"/>
            <a:endCxn id="13" idx="0"/>
          </p:cNvCxnSpPr>
          <p:nvPr/>
        </p:nvCxnSpPr>
        <p:spPr>
          <a:xfrm flipH="1">
            <a:off x="4320540" y="2057400"/>
            <a:ext cx="0" cy="64008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a:stCxn id="13" idx="0"/>
            <a:endCxn id="7" idx="2"/>
          </p:cNvCxnSpPr>
          <p:nvPr/>
        </p:nvCxnSpPr>
        <p:spPr>
          <a:xfrm flipH="1" flipV="1">
            <a:off x="2674620" y="2057400"/>
            <a:ext cx="1645920" cy="64008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a:stCxn id="9" idx="1"/>
            <a:endCxn id="10" idx="3"/>
          </p:cNvCxnSpPr>
          <p:nvPr/>
        </p:nvCxnSpPr>
        <p:spPr>
          <a:xfrm flipV="1">
            <a:off x="5257800" y="1737360"/>
            <a:ext cx="3246120" cy="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a:stCxn id="10" idx="1"/>
            <a:endCxn id="11" idx="3"/>
          </p:cNvCxnSpPr>
          <p:nvPr/>
        </p:nvCxnSpPr>
        <p:spPr>
          <a:xfrm flipV="1">
            <a:off x="6903720" y="1737360"/>
            <a:ext cx="3246120" cy="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a:stCxn id="10" idx="2"/>
            <a:endCxn id="14" idx="0"/>
          </p:cNvCxnSpPr>
          <p:nvPr/>
        </p:nvCxnSpPr>
        <p:spPr>
          <a:xfrm flipH="1">
            <a:off x="7703820" y="2057400"/>
            <a:ext cx="0" cy="64008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a:stCxn id="14" idx="0"/>
            <a:endCxn id="10" idx="2"/>
          </p:cNvCxnSpPr>
          <p:nvPr/>
        </p:nvCxnSpPr>
        <p:spPr>
          <a:xfrm flipH="1" flipV="1">
            <a:off x="7703820" y="2057400"/>
            <a:ext cx="0" cy="64008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a:stCxn id="6" idx="2"/>
            <a:endCxn id="12" idx="0"/>
          </p:cNvCxnSpPr>
          <p:nvPr/>
        </p:nvCxnSpPr>
        <p:spPr>
          <a:xfrm flipH="1">
            <a:off x="1028700" y="2057400"/>
            <a:ext cx="0" cy="640080"/>
          </a:xfrm>
          <a:prstGeom prst="bentConnector3">
            <a:avLst/>
          </a:prstGeom>
          <a:ln w="19050">
            <a:solidFill>
              <a:srgbClr val="66708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0040" y="2148840"/>
            <a:ext cx="2926080" cy="457200"/>
          </a:xfrm>
          <a:prstGeom prst="rect">
            <a:avLst/>
          </a:prstGeom>
          <a:noFill/>
        </p:spPr>
        <p:txBody>
          <a:bodyPr wrap="none">
            <a:spAutoFit/>
          </a:bodyPr>
          <a:lstStyle/>
          <a:p>
            <a:r>
              <a:rPr sz="900" i="1">
                <a:solidFill>
                  <a:srgbClr val="667085"/>
                </a:solidFill>
                <a:latin typeface="Yu Gothic"/>
              </a:rPr>
              <a:t>TR-05 差戻し [理由1文字以上]</a:t>
            </a:r>
          </a:p>
        </p:txBody>
      </p:sp>
      <p:sp>
        <p:nvSpPr>
          <p:cNvPr id="27" name="TextBox 26"/>
          <p:cNvSpPr txBox="1"/>
          <p:nvPr/>
        </p:nvSpPr>
        <p:spPr>
          <a:xfrm>
            <a:off x="6903720" y="2148840"/>
            <a:ext cx="2651760" cy="457200"/>
          </a:xfrm>
          <a:prstGeom prst="rect">
            <a:avLst/>
          </a:prstGeom>
          <a:noFill/>
        </p:spPr>
        <p:txBody>
          <a:bodyPr wrap="none">
            <a:spAutoFit/>
          </a:bodyPr>
          <a:lstStyle/>
          <a:p>
            <a:r>
              <a:rPr sz="900" i="1">
                <a:solidFill>
                  <a:srgbClr val="B42318"/>
                </a:solidFill>
                <a:latin typeface="Yu Gothic"/>
              </a:rPr>
              <a:t>TR-09 連携失敗 [retry_count &gt;= 5]</a:t>
            </a:r>
          </a:p>
        </p:txBody>
      </p:sp>
      <p:graphicFrame>
        <p:nvGraphicFramePr>
          <p:cNvPr id="28" name="Table 27"/>
          <p:cNvGraphicFramePr>
            <a:graphicFrameLocks noGrp="1"/>
          </p:cNvGraphicFramePr>
          <p:nvPr/>
        </p:nvGraphicFramePr>
        <p:xfrm>
          <a:off x="320040" y="3703320"/>
          <a:ext cx="11521440" cy="2834640"/>
        </p:xfrm>
        <a:graphic>
          <a:graphicData uri="http://schemas.openxmlformats.org/drawingml/2006/table">
            <a:tbl>
              <a:tblPr firstRow="1" bandRow="1">
                <a:tableStyleId>{5C22544A-7EE6-4342-B048-85BDC9FD1C3A}</a:tableStyleId>
              </a:tblPr>
              <a:tblGrid>
                <a:gridCol w="914400"/>
                <a:gridCol w="2103120"/>
                <a:gridCol w="1737360"/>
                <a:gridCol w="3108960"/>
                <a:gridCol w="2103120"/>
                <a:gridCol w="1554480"/>
              </a:tblGrid>
              <a:tr h="236220">
                <a:tc>
                  <a:txBody>
                    <a:bodyPr/>
                    <a:lstStyle/>
                    <a:p>
                      <a:r>
                        <a:rPr b="1" sz="900">
                          <a:solidFill>
                            <a:srgbClr val="FFFFFF"/>
                          </a:solidFill>
                          <a:latin typeface="Yu Gothic"/>
                        </a:rPr>
                        <a:t>遷移ID</a:t>
                      </a:r>
                    </a:p>
                  </a:txBody>
                  <a:tcPr>
                    <a:solidFill>
                      <a:srgbClr val="17365D"/>
                    </a:solidFill>
                  </a:tcPr>
                </a:tc>
                <a:tc>
                  <a:txBody>
                    <a:bodyPr/>
                    <a:lstStyle/>
                    <a:p>
                      <a:r>
                        <a:rPr b="1" sz="900">
                          <a:solidFill>
                            <a:srgbClr val="FFFFFF"/>
                          </a:solidFill>
                          <a:latin typeface="Yu Gothic"/>
                        </a:rPr>
                        <a:t>遷移元</a:t>
                      </a:r>
                    </a:p>
                  </a:txBody>
                  <a:tcPr>
                    <a:solidFill>
                      <a:srgbClr val="17365D"/>
                    </a:solidFill>
                  </a:tcPr>
                </a:tc>
                <a:tc>
                  <a:txBody>
                    <a:bodyPr/>
                    <a:lstStyle/>
                    <a:p>
                      <a:r>
                        <a:rPr b="1" sz="900">
                          <a:solidFill>
                            <a:srgbClr val="FFFFFF"/>
                          </a:solidFill>
                          <a:latin typeface="Yu Gothic"/>
                        </a:rPr>
                        <a:t>イベント</a:t>
                      </a:r>
                    </a:p>
                  </a:txBody>
                  <a:tcPr>
                    <a:solidFill>
                      <a:srgbClr val="17365D"/>
                    </a:solidFill>
                  </a:tcPr>
                </a:tc>
                <a:tc>
                  <a:txBody>
                    <a:bodyPr/>
                    <a:lstStyle/>
                    <a:p>
                      <a:r>
                        <a:rPr b="1" sz="900">
                          <a:solidFill>
                            <a:srgbClr val="FFFFFF"/>
                          </a:solidFill>
                          <a:latin typeface="Yu Gothic"/>
                        </a:rPr>
                        <a:t>ガード／条件</a:t>
                      </a:r>
                    </a:p>
                  </a:txBody>
                  <a:tcPr>
                    <a:solidFill>
                      <a:srgbClr val="17365D"/>
                    </a:solidFill>
                  </a:tcPr>
                </a:tc>
                <a:tc>
                  <a:txBody>
                    <a:bodyPr/>
                    <a:lstStyle/>
                    <a:p>
                      <a:r>
                        <a:rPr b="1" sz="900">
                          <a:solidFill>
                            <a:srgbClr val="FFFFFF"/>
                          </a:solidFill>
                          <a:latin typeface="Yu Gothic"/>
                        </a:rPr>
                        <a:t>遷移先</a:t>
                      </a:r>
                    </a:p>
                  </a:txBody>
                  <a:tcPr>
                    <a:solidFill>
                      <a:srgbClr val="17365D"/>
                    </a:solidFill>
                  </a:tcPr>
                </a:tc>
                <a:tc>
                  <a:txBody>
                    <a:bodyPr/>
                    <a:lstStyle/>
                    <a:p>
                      <a:r>
                        <a:rPr b="1" sz="900">
                          <a:solidFill>
                            <a:srgbClr val="FFFFFF"/>
                          </a:solidFill>
                          <a:latin typeface="Yu Gothic"/>
                        </a:rPr>
                        <a:t>副作用</a:t>
                      </a:r>
                    </a:p>
                  </a:txBody>
                  <a:tcPr>
                    <a:solidFill>
                      <a:srgbClr val="17365D"/>
                    </a:solidFill>
                  </a:tcPr>
                </a:tc>
              </a:tr>
              <a:tr h="236220">
                <a:tc>
                  <a:txBody>
                    <a:bodyPr/>
                    <a:lstStyle/>
                    <a:p>
                      <a:r>
                        <a:rPr sz="850">
                          <a:solidFill>
                            <a:srgbClr val="1F2937"/>
                          </a:solidFill>
                          <a:latin typeface="Yu Gothic"/>
                        </a:rPr>
                        <a:t>TR-01</a:t>
                      </a:r>
                    </a:p>
                  </a:txBody>
                  <a:tcPr/>
                </a:tc>
                <a:tc>
                  <a:txBody>
                    <a:bodyPr/>
                    <a:lstStyle/>
                    <a:p>
                      <a:r>
                        <a:rPr sz="850">
                          <a:solidFill>
                            <a:srgbClr val="1F2937"/>
                          </a:solidFill>
                          <a:latin typeface="Yu Gothic"/>
                        </a:rPr>
                        <a:t>—</a:t>
                      </a:r>
                    </a:p>
                  </a:txBody>
                  <a:tcPr/>
                </a:tc>
                <a:tc>
                  <a:txBody>
                    <a:bodyPr/>
                    <a:lstStyle/>
                    <a:p>
                      <a:r>
                        <a:rPr sz="850">
                          <a:solidFill>
                            <a:srgbClr val="1F2937"/>
                          </a:solidFill>
                          <a:latin typeface="Yu Gothic"/>
                        </a:rPr>
                        <a:t>新規作成</a:t>
                      </a:r>
                    </a:p>
                  </a:txBody>
                  <a:tcPr/>
                </a:tc>
                <a:tc>
                  <a:txBody>
                    <a:bodyPr/>
                    <a:lstStyle/>
                    <a:p>
                      <a:r>
                        <a:rPr sz="850">
                          <a:solidFill>
                            <a:srgbClr val="1F2937"/>
                          </a:solidFill>
                          <a:latin typeface="Yu Gothic"/>
                        </a:rPr>
                        <a:t>認証済み</a:t>
                      </a:r>
                    </a:p>
                  </a:txBody>
                  <a:tcPr/>
                </a:tc>
                <a:tc>
                  <a:txBody>
                    <a:bodyPr/>
                    <a:lstStyle/>
                    <a:p>
                      <a:r>
                        <a:rPr sz="850">
                          <a:solidFill>
                            <a:srgbClr val="1F2937"/>
                          </a:solidFill>
                          <a:latin typeface="Yu Gothic"/>
                        </a:rPr>
                        <a:t>DRAFT</a:t>
                      </a:r>
                    </a:p>
                  </a:txBody>
                  <a:tcPr/>
                </a:tc>
                <a:tc>
                  <a:txBody>
                    <a:bodyPr/>
                    <a:lstStyle/>
                    <a:p>
                      <a:r>
                        <a:rPr sz="850">
                          <a:solidFill>
                            <a:srgbClr val="1F2937"/>
                          </a:solidFill>
                          <a:latin typeface="Yu Gothic"/>
                        </a:rPr>
                        <a:t>一時保存領域作成</a:t>
                      </a:r>
                    </a:p>
                  </a:txBody>
                  <a:tcPr/>
                </a:tc>
              </a:tr>
              <a:tr h="236220">
                <a:tc>
                  <a:txBody>
                    <a:bodyPr/>
                    <a:lstStyle/>
                    <a:p>
                      <a:r>
                        <a:rPr sz="850">
                          <a:solidFill>
                            <a:srgbClr val="1F2937"/>
                          </a:solidFill>
                          <a:latin typeface="Yu Gothic"/>
                        </a:rPr>
                        <a:t>TR-02</a:t>
                      </a:r>
                    </a:p>
                  </a:txBody>
                  <a:tcPr/>
                </a:tc>
                <a:tc>
                  <a:txBody>
                    <a:bodyPr/>
                    <a:lstStyle/>
                    <a:p>
                      <a:r>
                        <a:rPr sz="850">
                          <a:solidFill>
                            <a:srgbClr val="1F2937"/>
                          </a:solidFill>
                          <a:latin typeface="Yu Gothic"/>
                        </a:rPr>
                        <a:t>DRAFT</a:t>
                      </a:r>
                    </a:p>
                  </a:txBody>
                  <a:tcPr/>
                </a:tc>
                <a:tc>
                  <a:txBody>
                    <a:bodyPr/>
                    <a:lstStyle/>
                    <a:p>
                      <a:r>
                        <a:rPr sz="850">
                          <a:solidFill>
                            <a:srgbClr val="1F2937"/>
                          </a:solidFill>
                          <a:latin typeface="Yu Gothic"/>
                        </a:rPr>
                        <a:t>提出</a:t>
                      </a:r>
                    </a:p>
                  </a:txBody>
                  <a:tcPr/>
                </a:tc>
                <a:tc>
                  <a:txBody>
                    <a:bodyPr/>
                    <a:lstStyle/>
                    <a:p>
                      <a:r>
                        <a:rPr sz="850">
                          <a:solidFill>
                            <a:srgbClr val="1F2937"/>
                          </a:solidFill>
                          <a:latin typeface="Yu Gothic"/>
                        </a:rPr>
                        <a:t>必須入力OK、金額&gt;0</a:t>
                      </a:r>
                    </a:p>
                  </a:txBody>
                  <a:tcPr/>
                </a:tc>
                <a:tc>
                  <a:txBody>
                    <a:bodyPr/>
                    <a:lstStyle/>
                    <a:p>
                      <a:r>
                        <a:rPr sz="850">
                          <a:solidFill>
                            <a:srgbClr val="1F2937"/>
                          </a:solidFill>
                          <a:latin typeface="Yu Gothic"/>
                        </a:rPr>
                        <a:t>SUBMITTED</a:t>
                      </a:r>
                    </a:p>
                  </a:txBody>
                  <a:tcPr/>
                </a:tc>
                <a:tc>
                  <a:txBody>
                    <a:bodyPr/>
                    <a:lstStyle/>
                    <a:p>
                      <a:r>
                        <a:rPr sz="850">
                          <a:solidFill>
                            <a:srgbClr val="1F2937"/>
                          </a:solidFill>
                          <a:latin typeface="Yu Gothic"/>
                        </a:rPr>
                        <a:t>監査ログ記録</a:t>
                      </a:r>
                    </a:p>
                  </a:txBody>
                  <a:tcPr/>
                </a:tc>
              </a:tr>
              <a:tr h="236220">
                <a:tc>
                  <a:txBody>
                    <a:bodyPr/>
                    <a:lstStyle/>
                    <a:p>
                      <a:r>
                        <a:rPr sz="850">
                          <a:solidFill>
                            <a:srgbClr val="1F2937"/>
                          </a:solidFill>
                          <a:latin typeface="Yu Gothic"/>
                        </a:rPr>
                        <a:t>TR-03</a:t>
                      </a:r>
                    </a:p>
                  </a:txBody>
                  <a:tcPr/>
                </a:tc>
                <a:tc>
                  <a:txBody>
                    <a:bodyPr/>
                    <a:lstStyle/>
                    <a:p>
                      <a:r>
                        <a:rPr sz="850">
                          <a:solidFill>
                            <a:srgbClr val="1F2937"/>
                          </a:solidFill>
                          <a:latin typeface="Yu Gothic"/>
                        </a:rPr>
                        <a:t>SUBMITTED</a:t>
                      </a:r>
                    </a:p>
                  </a:txBody>
                  <a:tcPr/>
                </a:tc>
                <a:tc>
                  <a:txBody>
                    <a:bodyPr/>
                    <a:lstStyle/>
                    <a:p>
                      <a:r>
                        <a:rPr sz="850">
                          <a:solidFill>
                            <a:srgbClr val="1F2937"/>
                          </a:solidFill>
                          <a:latin typeface="Yu Gothic"/>
                        </a:rPr>
                        <a:t>受付</a:t>
                      </a:r>
                    </a:p>
                  </a:txBody>
                  <a:tcPr/>
                </a:tc>
                <a:tc>
                  <a:txBody>
                    <a:bodyPr/>
                    <a:lstStyle/>
                    <a:p>
                      <a:r>
                        <a:rPr sz="850">
                          <a:solidFill>
                            <a:srgbClr val="1F2937"/>
                          </a:solidFill>
                          <a:latin typeface="Yu Gothic"/>
                        </a:rPr>
                        <a:t>Idempotency-Key未処理</a:t>
                      </a:r>
                    </a:p>
                  </a:txBody>
                  <a:tcPr/>
                </a:tc>
                <a:tc>
                  <a:txBody>
                    <a:bodyPr/>
                    <a:lstStyle/>
                    <a:p>
                      <a:r>
                        <a:rPr sz="850">
                          <a:solidFill>
                            <a:srgbClr val="1F2937"/>
                          </a:solidFill>
                          <a:latin typeface="Yu Gothic"/>
                        </a:rPr>
                        <a:t>PENDING</a:t>
                      </a:r>
                    </a:p>
                  </a:txBody>
                  <a:tcPr/>
                </a:tc>
                <a:tc>
                  <a:txBody>
                    <a:bodyPr/>
                    <a:lstStyle/>
                    <a:p>
                      <a:r>
                        <a:rPr sz="850">
                          <a:solidFill>
                            <a:srgbClr val="1F2937"/>
                          </a:solidFill>
                          <a:latin typeface="Yu Gothic"/>
                        </a:rPr>
                        <a:t>承認イベント発行</a:t>
                      </a:r>
                    </a:p>
                  </a:txBody>
                  <a:tcPr/>
                </a:tc>
              </a:tr>
              <a:tr h="236220">
                <a:tc>
                  <a:txBody>
                    <a:bodyPr/>
                    <a:lstStyle/>
                    <a:p>
                      <a:r>
                        <a:rPr sz="850">
                          <a:solidFill>
                            <a:srgbClr val="1F2937"/>
                          </a:solidFill>
                          <a:latin typeface="Yu Gothic"/>
                        </a:rPr>
                        <a:t>TR-04</a:t>
                      </a:r>
                    </a:p>
                  </a:txBody>
                  <a:tcPr/>
                </a:tc>
                <a:tc>
                  <a:txBody>
                    <a:bodyPr/>
                    <a:lstStyle/>
                    <a:p>
                      <a:r>
                        <a:rPr sz="850">
                          <a:solidFill>
                            <a:srgbClr val="1F2937"/>
                          </a:solidFill>
                          <a:latin typeface="Yu Gothic"/>
                        </a:rPr>
                        <a:t>PENDING</a:t>
                      </a:r>
                    </a:p>
                  </a:txBody>
                  <a:tcPr/>
                </a:tc>
                <a:tc>
                  <a:txBody>
                    <a:bodyPr/>
                    <a:lstStyle/>
                    <a:p>
                      <a:r>
                        <a:rPr sz="850">
                          <a:solidFill>
                            <a:srgbClr val="1F2937"/>
                          </a:solidFill>
                          <a:latin typeface="Yu Gothic"/>
                        </a:rPr>
                        <a:t>承認</a:t>
                      </a:r>
                    </a:p>
                  </a:txBody>
                  <a:tcPr/>
                </a:tc>
                <a:tc>
                  <a:txBody>
                    <a:bodyPr/>
                    <a:lstStyle/>
                    <a:p>
                      <a:r>
                        <a:rPr sz="850">
                          <a:solidFill>
                            <a:srgbClr val="1F2937"/>
                          </a:solidFill>
                          <a:latin typeface="Yu Gothic"/>
                        </a:rPr>
                        <a:t>承認権限あり</a:t>
                      </a:r>
                    </a:p>
                  </a:txBody>
                  <a:tcPr/>
                </a:tc>
                <a:tc>
                  <a:txBody>
                    <a:bodyPr/>
                    <a:lstStyle/>
                    <a:p>
                      <a:r>
                        <a:rPr sz="850">
                          <a:solidFill>
                            <a:srgbClr val="1F2937"/>
                          </a:solidFill>
                          <a:latin typeface="Yu Gothic"/>
                        </a:rPr>
                        <a:t>APPROVED</a:t>
                      </a:r>
                    </a:p>
                  </a:txBody>
                  <a:tcPr/>
                </a:tc>
                <a:tc>
                  <a:txBody>
                    <a:bodyPr/>
                    <a:lstStyle/>
                    <a:p>
                      <a:r>
                        <a:rPr sz="850">
                          <a:solidFill>
                            <a:srgbClr val="1F2937"/>
                          </a:solidFill>
                          <a:latin typeface="Yu Gothic"/>
                        </a:rPr>
                        <a:t>承認日時を記録</a:t>
                      </a:r>
                    </a:p>
                  </a:txBody>
                  <a:tcPr/>
                </a:tc>
              </a:tr>
              <a:tr h="236220">
                <a:tc>
                  <a:txBody>
                    <a:bodyPr/>
                    <a:lstStyle/>
                    <a:p>
                      <a:r>
                        <a:rPr sz="850">
                          <a:solidFill>
                            <a:srgbClr val="1F2937"/>
                          </a:solidFill>
                          <a:latin typeface="Yu Gothic"/>
                        </a:rPr>
                        <a:t>TR-05</a:t>
                      </a:r>
                    </a:p>
                  </a:txBody>
                  <a:tcPr/>
                </a:tc>
                <a:tc>
                  <a:txBody>
                    <a:bodyPr/>
                    <a:lstStyle/>
                    <a:p>
                      <a:r>
                        <a:rPr sz="850">
                          <a:solidFill>
                            <a:srgbClr val="1F2937"/>
                          </a:solidFill>
                          <a:latin typeface="Yu Gothic"/>
                        </a:rPr>
                        <a:t>PENDING</a:t>
                      </a:r>
                    </a:p>
                  </a:txBody>
                  <a:tcPr/>
                </a:tc>
                <a:tc>
                  <a:txBody>
                    <a:bodyPr/>
                    <a:lstStyle/>
                    <a:p>
                      <a:r>
                        <a:rPr sz="850">
                          <a:solidFill>
                            <a:srgbClr val="1F2937"/>
                          </a:solidFill>
                          <a:latin typeface="Yu Gothic"/>
                        </a:rPr>
                        <a:t>差戻し</a:t>
                      </a:r>
                    </a:p>
                  </a:txBody>
                  <a:tcPr/>
                </a:tc>
                <a:tc>
                  <a:txBody>
                    <a:bodyPr/>
                    <a:lstStyle/>
                    <a:p>
                      <a:r>
                        <a:rPr sz="850">
                          <a:solidFill>
                            <a:srgbClr val="1F2937"/>
                          </a:solidFill>
                          <a:latin typeface="Yu Gothic"/>
                        </a:rPr>
                        <a:t>理由1文字以上</a:t>
                      </a:r>
                    </a:p>
                  </a:txBody>
                  <a:tcPr/>
                </a:tc>
                <a:tc>
                  <a:txBody>
                    <a:bodyPr/>
                    <a:lstStyle/>
                    <a:p>
                      <a:r>
                        <a:rPr sz="850">
                          <a:solidFill>
                            <a:srgbClr val="1F2937"/>
                          </a:solidFill>
                          <a:latin typeface="Yu Gothic"/>
                        </a:rPr>
                        <a:t>RETURNED</a:t>
                      </a:r>
                    </a:p>
                  </a:txBody>
                  <a:tcPr/>
                </a:tc>
                <a:tc>
                  <a:txBody>
                    <a:bodyPr/>
                    <a:lstStyle/>
                    <a:p>
                      <a:r>
                        <a:rPr sz="850">
                          <a:solidFill>
                            <a:srgbClr val="1F2937"/>
                          </a:solidFill>
                          <a:latin typeface="Yu Gothic"/>
                        </a:rPr>
                        <a:t>申請者へ通知</a:t>
                      </a:r>
                    </a:p>
                  </a:txBody>
                  <a:tcPr/>
                </a:tc>
              </a:tr>
              <a:tr h="236220">
                <a:tc>
                  <a:txBody>
                    <a:bodyPr/>
                    <a:lstStyle/>
                    <a:p>
                      <a:r>
                        <a:rPr sz="850">
                          <a:solidFill>
                            <a:srgbClr val="1F2937"/>
                          </a:solidFill>
                          <a:latin typeface="Yu Gothic"/>
                        </a:rPr>
                        <a:t>TR-06</a:t>
                      </a:r>
                    </a:p>
                  </a:txBody>
                  <a:tcPr/>
                </a:tc>
                <a:tc>
                  <a:txBody>
                    <a:bodyPr/>
                    <a:lstStyle/>
                    <a:p>
                      <a:r>
                        <a:rPr sz="850">
                          <a:solidFill>
                            <a:srgbClr val="1F2937"/>
                          </a:solidFill>
                          <a:latin typeface="Yu Gothic"/>
                        </a:rPr>
                        <a:t>RETURNED</a:t>
                      </a:r>
                    </a:p>
                  </a:txBody>
                  <a:tcPr/>
                </a:tc>
                <a:tc>
                  <a:txBody>
                    <a:bodyPr/>
                    <a:lstStyle/>
                    <a:p>
                      <a:r>
                        <a:rPr sz="850">
                          <a:solidFill>
                            <a:srgbClr val="1F2937"/>
                          </a:solidFill>
                          <a:latin typeface="Yu Gothic"/>
                        </a:rPr>
                        <a:t>再提出</a:t>
                      </a:r>
                    </a:p>
                  </a:txBody>
                  <a:tcPr/>
                </a:tc>
                <a:tc>
                  <a:txBody>
                    <a:bodyPr/>
                    <a:lstStyle/>
                    <a:p>
                      <a:r>
                        <a:rPr sz="850">
                          <a:solidFill>
                            <a:srgbClr val="1F2937"/>
                          </a:solidFill>
                          <a:latin typeface="Yu Gothic"/>
                        </a:rPr>
                        <a:t>修正後の入力検証OK</a:t>
                      </a:r>
                    </a:p>
                  </a:txBody>
                  <a:tcPr/>
                </a:tc>
                <a:tc>
                  <a:txBody>
                    <a:bodyPr/>
                    <a:lstStyle/>
                    <a:p>
                      <a:r>
                        <a:rPr sz="850">
                          <a:solidFill>
                            <a:srgbClr val="1F2937"/>
                          </a:solidFill>
                          <a:latin typeface="Yu Gothic"/>
                        </a:rPr>
                        <a:t>SUBMITTED</a:t>
                      </a:r>
                    </a:p>
                  </a:txBody>
                  <a:tcPr/>
                </a:tc>
                <a:tc>
                  <a:txBody>
                    <a:bodyPr/>
                    <a:lstStyle/>
                    <a:p>
                      <a:r>
                        <a:rPr sz="850">
                          <a:solidFill>
                            <a:srgbClr val="1F2937"/>
                          </a:solidFill>
                          <a:latin typeface="Yu Gothic"/>
                        </a:rPr>
                        <a:t>版番号を加算</a:t>
                      </a:r>
                    </a:p>
                  </a:txBody>
                  <a:tcPr/>
                </a:tc>
              </a:tr>
              <a:tr h="236220">
                <a:tc>
                  <a:txBody>
                    <a:bodyPr/>
                    <a:lstStyle/>
                    <a:p>
                      <a:r>
                        <a:rPr sz="850">
                          <a:solidFill>
                            <a:srgbClr val="1F2937"/>
                          </a:solidFill>
                          <a:latin typeface="Yu Gothic"/>
                        </a:rPr>
                        <a:t>TR-07</a:t>
                      </a:r>
                    </a:p>
                  </a:txBody>
                  <a:tcPr/>
                </a:tc>
                <a:tc>
                  <a:txBody>
                    <a:bodyPr/>
                    <a:lstStyle/>
                    <a:p>
                      <a:r>
                        <a:rPr sz="850">
                          <a:solidFill>
                            <a:srgbClr val="1F2937"/>
                          </a:solidFill>
                          <a:latin typeface="Yu Gothic"/>
                        </a:rPr>
                        <a:t>APPROVED</a:t>
                      </a:r>
                    </a:p>
                  </a:txBody>
                  <a:tcPr/>
                </a:tc>
                <a:tc>
                  <a:txBody>
                    <a:bodyPr/>
                    <a:lstStyle/>
                    <a:p>
                      <a:r>
                        <a:rPr sz="850">
                          <a:solidFill>
                            <a:srgbClr val="1F2937"/>
                          </a:solidFill>
                          <a:latin typeface="Yu Gothic"/>
                        </a:rPr>
                        <a:t>会計連携成功</a:t>
                      </a:r>
                    </a:p>
                  </a:txBody>
                  <a:tcPr/>
                </a:tc>
                <a:tc>
                  <a:txBody>
                    <a:bodyPr/>
                    <a:lstStyle/>
                    <a:p>
                      <a:r>
                        <a:rPr sz="850">
                          <a:solidFill>
                            <a:srgbClr val="1F2937"/>
                          </a:solidFill>
                          <a:latin typeface="Yu Gothic"/>
                        </a:rPr>
                        <a:t>仕訳番号あり</a:t>
                      </a:r>
                    </a:p>
                  </a:txBody>
                  <a:tcPr/>
                </a:tc>
                <a:tc>
                  <a:txBody>
                    <a:bodyPr/>
                    <a:lstStyle/>
                    <a:p>
                      <a:r>
                        <a:rPr sz="850">
                          <a:solidFill>
                            <a:srgbClr val="1F2937"/>
                          </a:solidFill>
                          <a:latin typeface="Yu Gothic"/>
                        </a:rPr>
                        <a:t>PAYMENT_PENDING</a:t>
                      </a:r>
                    </a:p>
                  </a:txBody>
                  <a:tcPr/>
                </a:tc>
                <a:tc>
                  <a:txBody>
                    <a:bodyPr/>
                    <a:lstStyle/>
                    <a:p>
                      <a:r>
                        <a:rPr sz="850">
                          <a:solidFill>
                            <a:srgbClr val="1F2937"/>
                          </a:solidFill>
                          <a:latin typeface="Yu Gothic"/>
                        </a:rPr>
                        <a:t>仕訳番号を保存</a:t>
                      </a:r>
                    </a:p>
                  </a:txBody>
                  <a:tcPr/>
                </a:tc>
              </a:tr>
              <a:tr h="236220">
                <a:tc>
                  <a:txBody>
                    <a:bodyPr/>
                    <a:lstStyle/>
                    <a:p>
                      <a:r>
                        <a:rPr sz="850">
                          <a:solidFill>
                            <a:srgbClr val="1F2937"/>
                          </a:solidFill>
                          <a:latin typeface="Yu Gothic"/>
                        </a:rPr>
                        <a:t>TR-08</a:t>
                      </a:r>
                    </a:p>
                  </a:txBody>
                  <a:tcPr/>
                </a:tc>
                <a:tc>
                  <a:txBody>
                    <a:bodyPr/>
                    <a:lstStyle/>
                    <a:p>
                      <a:r>
                        <a:rPr sz="850">
                          <a:solidFill>
                            <a:srgbClr val="1F2937"/>
                          </a:solidFill>
                          <a:latin typeface="Yu Gothic"/>
                        </a:rPr>
                        <a:t>PAYMENT_PENDING</a:t>
                      </a:r>
                    </a:p>
                  </a:txBody>
                  <a:tcPr/>
                </a:tc>
                <a:tc>
                  <a:txBody>
                    <a:bodyPr/>
                    <a:lstStyle/>
                    <a:p>
                      <a:r>
                        <a:rPr sz="850">
                          <a:solidFill>
                            <a:srgbClr val="1F2937"/>
                          </a:solidFill>
                          <a:latin typeface="Yu Gothic"/>
                        </a:rPr>
                        <a:t>支払確定</a:t>
                      </a:r>
                    </a:p>
                  </a:txBody>
                  <a:tcPr/>
                </a:tc>
                <a:tc>
                  <a:txBody>
                    <a:bodyPr/>
                    <a:lstStyle/>
                    <a:p>
                      <a:r>
                        <a:rPr sz="850">
                          <a:solidFill>
                            <a:srgbClr val="1F2937"/>
                          </a:solidFill>
                          <a:latin typeface="Yu Gothic"/>
                        </a:rPr>
                        <a:t>支払日あり</a:t>
                      </a:r>
                    </a:p>
                  </a:txBody>
                  <a:tcPr/>
                </a:tc>
                <a:tc>
                  <a:txBody>
                    <a:bodyPr/>
                    <a:lstStyle/>
                    <a:p>
                      <a:r>
                        <a:rPr sz="850">
                          <a:solidFill>
                            <a:srgbClr val="1F2937"/>
                          </a:solidFill>
                          <a:latin typeface="Yu Gothic"/>
                        </a:rPr>
                        <a:t>PAID</a:t>
                      </a:r>
                    </a:p>
                  </a:txBody>
                  <a:tcPr/>
                </a:tc>
                <a:tc>
                  <a:txBody>
                    <a:bodyPr/>
                    <a:lstStyle/>
                    <a:p>
                      <a:r>
                        <a:rPr sz="850">
                          <a:solidFill>
                            <a:srgbClr val="1F2937"/>
                          </a:solidFill>
                          <a:latin typeface="Yu Gothic"/>
                        </a:rPr>
                        <a:t>完了通知</a:t>
                      </a:r>
                    </a:p>
                  </a:txBody>
                  <a:tcPr/>
                </a:tc>
              </a:tr>
              <a:tr h="236220">
                <a:tc>
                  <a:txBody>
                    <a:bodyPr/>
                    <a:lstStyle/>
                    <a:p>
                      <a:r>
                        <a:rPr sz="850">
                          <a:solidFill>
                            <a:srgbClr val="B42318"/>
                          </a:solidFill>
                          <a:latin typeface="Yu Gothic"/>
                        </a:rPr>
                        <a:t>TR-09</a:t>
                      </a:r>
                    </a:p>
                  </a:txBody>
                  <a:tcPr>
                    <a:solidFill>
                      <a:srgbClr val="FFF4E5"/>
                    </a:solidFill>
                  </a:tcPr>
                </a:tc>
                <a:tc>
                  <a:txBody>
                    <a:bodyPr/>
                    <a:lstStyle/>
                    <a:p>
                      <a:r>
                        <a:rPr sz="850">
                          <a:solidFill>
                            <a:srgbClr val="B42318"/>
                          </a:solidFill>
                          <a:latin typeface="Yu Gothic"/>
                        </a:rPr>
                        <a:t>PAYMENT_PENDING</a:t>
                      </a:r>
                    </a:p>
                  </a:txBody>
                  <a:tcPr>
                    <a:solidFill>
                      <a:srgbClr val="FFF4E5"/>
                    </a:solidFill>
                  </a:tcPr>
                </a:tc>
                <a:tc>
                  <a:txBody>
                    <a:bodyPr/>
                    <a:lstStyle/>
                    <a:p>
                      <a:r>
                        <a:rPr sz="850">
                          <a:solidFill>
                            <a:srgbClr val="B42318"/>
                          </a:solidFill>
                          <a:latin typeface="Yu Gothic"/>
                        </a:rPr>
                        <a:t>連携失敗</a:t>
                      </a:r>
                    </a:p>
                  </a:txBody>
                  <a:tcPr>
                    <a:solidFill>
                      <a:srgbClr val="FFF4E5"/>
                    </a:solidFill>
                  </a:tcPr>
                </a:tc>
                <a:tc>
                  <a:txBody>
                    <a:bodyPr/>
                    <a:lstStyle/>
                    <a:p>
                      <a:r>
                        <a:rPr sz="850">
                          <a:solidFill>
                            <a:srgbClr val="B42318"/>
                          </a:solidFill>
                          <a:latin typeface="Yu Gothic"/>
                        </a:rPr>
                        <a:t>retry_count &gt;= 5</a:t>
                      </a:r>
                    </a:p>
                  </a:txBody>
                  <a:tcPr>
                    <a:solidFill>
                      <a:srgbClr val="FFF4E5"/>
                    </a:solidFill>
                  </a:tcPr>
                </a:tc>
                <a:tc>
                  <a:txBody>
                    <a:bodyPr/>
                    <a:lstStyle/>
                    <a:p>
                      <a:r>
                        <a:rPr sz="850">
                          <a:solidFill>
                            <a:srgbClr val="B42318"/>
                          </a:solidFill>
                          <a:latin typeface="Yu Gothic"/>
                        </a:rPr>
                        <a:t>ERROR</a:t>
                      </a:r>
                    </a:p>
                  </a:txBody>
                  <a:tcPr>
                    <a:solidFill>
                      <a:srgbClr val="FFF4E5"/>
                    </a:solidFill>
                  </a:tcPr>
                </a:tc>
                <a:tc>
                  <a:txBody>
                    <a:bodyPr/>
                    <a:lstStyle/>
                    <a:p>
                      <a:r>
                        <a:rPr sz="850">
                          <a:solidFill>
                            <a:srgbClr val="B42318"/>
                          </a:solidFill>
                          <a:latin typeface="Yu Gothic"/>
                        </a:rPr>
                        <a:t>DLQ登録・運用アラート</a:t>
                      </a:r>
                    </a:p>
                  </a:txBody>
                  <a:tcPr>
                    <a:solidFill>
                      <a:srgbClr val="FFF4E5"/>
                    </a:solidFill>
                  </a:tcPr>
                </a:tc>
              </a:tr>
              <a:tr h="236220">
                <a:tc>
                  <a:txBody>
                    <a:bodyPr/>
                    <a:lstStyle/>
                    <a:p>
                      <a:r>
                        <a:rPr sz="850">
                          <a:solidFill>
                            <a:srgbClr val="1F2937"/>
                          </a:solidFill>
                          <a:latin typeface="Yu Gothic"/>
                        </a:rPr>
                        <a:t>TR-10</a:t>
                      </a:r>
                    </a:p>
                  </a:txBody>
                  <a:tcPr/>
                </a:tc>
                <a:tc>
                  <a:txBody>
                    <a:bodyPr/>
                    <a:lstStyle/>
                    <a:p>
                      <a:r>
                        <a:rPr sz="850">
                          <a:solidFill>
                            <a:srgbClr val="1F2937"/>
                          </a:solidFill>
                          <a:latin typeface="Yu Gothic"/>
                        </a:rPr>
                        <a:t>ERROR</a:t>
                      </a:r>
                    </a:p>
                  </a:txBody>
                  <a:tcPr/>
                </a:tc>
                <a:tc>
                  <a:txBody>
                    <a:bodyPr/>
                    <a:lstStyle/>
                    <a:p>
                      <a:r>
                        <a:rPr sz="850">
                          <a:solidFill>
                            <a:srgbClr val="1F2937"/>
                          </a:solidFill>
                          <a:latin typeface="Yu Gothic"/>
                        </a:rPr>
                        <a:t>手動再送</a:t>
                      </a:r>
                    </a:p>
                  </a:txBody>
                  <a:tcPr/>
                </a:tc>
                <a:tc>
                  <a:txBody>
                    <a:bodyPr/>
                    <a:lstStyle/>
                    <a:p>
                      <a:r>
                        <a:rPr sz="850">
                          <a:solidFill>
                            <a:srgbClr val="1F2937"/>
                          </a:solidFill>
                          <a:latin typeface="Yu Gothic"/>
                        </a:rPr>
                        <a:t>原因解消済・運用権限あり</a:t>
                      </a:r>
                    </a:p>
                  </a:txBody>
                  <a:tcPr/>
                </a:tc>
                <a:tc>
                  <a:txBody>
                    <a:bodyPr/>
                    <a:lstStyle/>
                    <a:p>
                      <a:r>
                        <a:rPr sz="850">
                          <a:solidFill>
                            <a:srgbClr val="1F2937"/>
                          </a:solidFill>
                          <a:latin typeface="Yu Gothic"/>
                        </a:rPr>
                        <a:t>PAYMENT_PENDING</a:t>
                      </a:r>
                    </a:p>
                  </a:txBody>
                  <a:tcPr/>
                </a:tc>
                <a:tc>
                  <a:txBody>
                    <a:bodyPr/>
                    <a:lstStyle/>
                    <a:p>
                      <a:r>
                        <a:rPr sz="850">
                          <a:solidFill>
                            <a:srgbClr val="1F2937"/>
                          </a:solidFill>
                          <a:latin typeface="Yu Gothic"/>
                        </a:rPr>
                        <a:t>retry_countを0へ戻す</a:t>
                      </a:r>
                    </a:p>
                  </a:txBody>
                  <a:tcPr/>
                </a:tc>
              </a:tr>
              <a:tr h="236220">
                <a:tc>
                  <a:txBody>
                    <a:bodyPr/>
                    <a:lstStyle/>
                    <a:p>
                      <a:r>
                        <a:rPr sz="850">
                          <a:solidFill>
                            <a:srgbClr val="1F2937"/>
                          </a:solidFill>
                          <a:latin typeface="Yu Gothic"/>
                        </a:rPr>
                        <a:t>TR-11</a:t>
                      </a:r>
                    </a:p>
                  </a:txBody>
                  <a:tcPr/>
                </a:tc>
                <a:tc>
                  <a:txBody>
                    <a:bodyPr/>
                    <a:lstStyle/>
                    <a:p>
                      <a:r>
                        <a:rPr sz="850">
                          <a:solidFill>
                            <a:srgbClr val="1F2937"/>
                          </a:solidFill>
                          <a:latin typeface="Yu Gothic"/>
                        </a:rPr>
                        <a:t>DRAFT</a:t>
                      </a:r>
                    </a:p>
                  </a:txBody>
                  <a:tcPr/>
                </a:tc>
                <a:tc>
                  <a:txBody>
                    <a:bodyPr/>
                    <a:lstStyle/>
                    <a:p>
                      <a:r>
                        <a:rPr sz="850">
                          <a:solidFill>
                            <a:srgbClr val="1F2937"/>
                          </a:solidFill>
                          <a:latin typeface="Yu Gothic"/>
                        </a:rPr>
                        <a:t>取消</a:t>
                      </a:r>
                    </a:p>
                  </a:txBody>
                  <a:tcPr/>
                </a:tc>
                <a:tc>
                  <a:txBody>
                    <a:bodyPr/>
                    <a:lstStyle/>
                    <a:p>
                      <a:r>
                        <a:rPr sz="850">
                          <a:solidFill>
                            <a:srgbClr val="1F2937"/>
                          </a:solidFill>
                          <a:latin typeface="Yu Gothic"/>
                        </a:rPr>
                        <a:t>未提出</a:t>
                      </a:r>
                    </a:p>
                  </a:txBody>
                  <a:tcPr/>
                </a:tc>
                <a:tc>
                  <a:txBody>
                    <a:bodyPr/>
                    <a:lstStyle/>
                    <a:p>
                      <a:r>
                        <a:rPr sz="850">
                          <a:solidFill>
                            <a:srgbClr val="1F2937"/>
                          </a:solidFill>
                          <a:latin typeface="Yu Gothic"/>
                        </a:rPr>
                        <a:t>CANCELLED</a:t>
                      </a:r>
                    </a:p>
                  </a:txBody>
                  <a:tcPr/>
                </a:tc>
                <a:tc>
                  <a:txBody>
                    <a:bodyPr/>
                    <a:lstStyle/>
                    <a:p>
                      <a:r>
                        <a:rPr sz="850">
                          <a:solidFill>
                            <a:srgbClr val="1F2937"/>
                          </a:solidFill>
                          <a:latin typeface="Yu Gothic"/>
                        </a:rPr>
                        <a:t>論理削除</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4.1 業務フロー手順（申請〜支払）</a:t>
            </a:r>
          </a:p>
        </p:txBody>
      </p:sp>
      <p:sp>
        <p:nvSpPr>
          <p:cNvPr id="3" name="Content Placeholder 2"/>
          <p:cNvSpPr>
            <a:spLocks noGrp="1"/>
          </p:cNvSpPr>
          <p:nvPr>
            <p:ph idx="1"/>
          </p:nvPr>
        </p:nvSpPr>
        <p:spPr/>
        <p:txBody>
          <a:bodyPr wrap="square"/>
          <a:lstStyle/>
          <a:p>
            <a:pPr>
              <a:buAutoNum type="arabicPeriod"/>
            </a:pPr>
            <a:r>
              <a:rPr sz="1600">
                <a:solidFill>
                  <a:srgbClr val="1F2937"/>
                </a:solidFill>
                <a:latin typeface="Yu Gothic"/>
              </a:rPr>
              <a:t>BF-00 開始</a:t>
            </a:r>
          </a:p>
          <a:p>
            <a:pPr>
              <a:buAutoNum type="arabicPeriod"/>
            </a:pPr>
            <a:r>
              <a:rPr sz="1600">
                <a:solidFill>
                  <a:srgbClr val="1F2937"/>
                </a:solidFill>
                <a:latin typeface="Yu Gothic"/>
              </a:rPr>
              <a:t>BF-01 領収書・明細を入力</a:t>
            </a:r>
          </a:p>
          <a:p>
            <a:pPr>
              <a:buAutoNum type="arabicPeriod"/>
            </a:pPr>
            <a:r>
              <a:rPr sz="1600">
                <a:solidFill>
                  <a:srgbClr val="1F2937"/>
                </a:solidFill>
                <a:latin typeface="Yu Gothic"/>
              </a:rPr>
              <a:t>BF-02 形式・必須チェック（GW-01 入力は妥当か）</a:t>
            </a:r>
          </a:p>
          <a:p>
            <a:pPr>
              <a:buAutoNum type="arabicPeriod"/>
            </a:pPr>
            <a:r>
              <a:rPr sz="1600">
                <a:solidFill>
                  <a:srgbClr val="1F2937"/>
                </a:solidFill>
                <a:latin typeface="Yu Gothic"/>
              </a:rPr>
              <a:t>BF-03 申請登録 SUBMITTED（TX-01）</a:t>
            </a:r>
          </a:p>
          <a:p>
            <a:pPr>
              <a:buAutoNum type="arabicPeriod"/>
            </a:pPr>
            <a:r>
              <a:rPr sz="1600">
                <a:solidFill>
                  <a:srgbClr val="1F2937"/>
                </a:solidFill>
                <a:latin typeface="Yu Gothic"/>
              </a:rPr>
              <a:t>BF-04 承認者決定（10万円以下=課長／超過=部長、BR-01）</a:t>
            </a:r>
          </a:p>
          <a:p>
            <a:pPr>
              <a:buAutoNum type="arabicPeriod"/>
            </a:pPr>
            <a:r>
              <a:rPr sz="1600">
                <a:solidFill>
                  <a:srgbClr val="1F2937"/>
                </a:solidFill>
                <a:latin typeface="Yu Gothic"/>
              </a:rPr>
              <a:t>BF-05〜BF-06 内容確認・差戻し判定（GW-02 承認するか）</a:t>
            </a:r>
          </a:p>
          <a:p>
            <a:pPr>
              <a:buAutoNum type="arabicPeriod"/>
            </a:pPr>
            <a:r>
              <a:rPr sz="1600">
                <a:solidFill>
                  <a:srgbClr val="1F2937"/>
                </a:solidFill>
                <a:latin typeface="Yu Gothic"/>
              </a:rPr>
              <a:t>BF-07 仕訳連携（GW-03 連携成功か）</a:t>
            </a:r>
          </a:p>
          <a:p>
            <a:pPr>
              <a:buAutoNum type="arabicPeriod"/>
            </a:pPr>
            <a:r>
              <a:rPr sz="1600">
                <a:solidFill>
                  <a:srgbClr val="1F2937"/>
                </a:solidFill>
                <a:latin typeface="Yu Gothic"/>
              </a:rPr>
              <a:t>BF-08 再送キュー（失敗時、1/5/30/120/600秒）</a:t>
            </a:r>
          </a:p>
          <a:p>
            <a:pPr>
              <a:buAutoNum type="arabicPeriod"/>
            </a:pPr>
            <a:r>
              <a:rPr sz="1600">
                <a:solidFill>
                  <a:srgbClr val="1F2937"/>
                </a:solidFill>
                <a:latin typeface="Yu Gothic"/>
              </a:rPr>
              <a:t>BF-09 支払処理</a:t>
            </a:r>
          </a:p>
          <a:p>
            <a:pPr>
              <a:buAutoNum type="arabicPeriod"/>
            </a:pPr>
            <a:r>
              <a:rPr sz="1600">
                <a:solidFill>
                  <a:srgbClr val="1F2937"/>
                </a:solidFill>
                <a:latin typeface="Yu Gothic"/>
              </a:rPr>
              <a:t>BF-10 支払済更新・完了通知（BF-99 終了）</a:t>
            </a:r>
          </a:p>
        </p:txBody>
      </p:sp>
      <p:sp>
        <p:nvSpPr>
          <p:cNvPr id="4" name="Date Placeholder 3"/>
          <p:cNvSpPr>
            <a:spLocks noGrp="1"/>
          </p:cNvSpPr>
          <p:nvPr>
            <p:ph type="dt" sz="half" idx="10"/>
          </p:nvPr>
        </p:nvSpPr>
        <p:spPr/>
        <p:txBody>
          <a:bodyPr/>
          <a:lstStyle/>
          <a:p>
            <a:fld id="{5BCAD085-E8A6-8845-BD4E-CB4CCA059FC4}" type="datetimeFigureOut">
              <a:rPr lang="en-US" smtClean="0"/>
              <a:t>2026-08-23</a:t>
            </a:fld>
            <a:endParaRPr lang="en-US"/>
          </a:p>
        </p:txBody>
      </p:sp>
      <p:sp>
        <p:nvSpPr>
          <p:cNvPr id="5" name="Footer Placeholder 4"/>
          <p:cNvSpPr>
            <a:spLocks noGrp="1"/>
          </p:cNvSpPr>
          <p:nvPr>
            <p:ph type="ftr" sz="quarter" idx="11"/>
          </p:nvPr>
        </p:nvSpPr>
        <p:spPr/>
        <p:txBody>
          <a:bodyPr/>
          <a:lstStyle/>
          <a:p>
            <a:r>
              <a:rPr lang="ja-JP" sz="1200"/>
              <a:t>RTMD PPTX変換検証 / CONFIDENTIAL（検証用）</a:t>
            </a:r>
          </a:p>
        </p:txBody>
      </p:sp>
      <p:sp>
        <p:nvSpPr>
          <p:cNvPr id="6" name="Slide Number Placeholder 5"/>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8.1 非機能要件ハイライト</a:t>
            </a:r>
          </a:p>
        </p:txBody>
      </p:sp>
      <p:sp>
        <p:nvSpPr>
          <p:cNvPr id="3" name="Content Placeholder 2"/>
          <p:cNvSpPr>
            <a:spLocks noGrp="1"/>
          </p:cNvSpPr>
          <p:nvPr>
            <p:ph idx="1"/>
          </p:nvPr>
        </p:nvSpPr>
        <p:spPr/>
        <p:txBody>
          <a:bodyPr wrap="square"/>
          <a:lstStyle/>
          <a:p>
            <a:pPr>
              <a:buNone/>
            </a:pPr>
            <a:r>
              <a:rPr sz="1400" i="1">
                <a:solidFill>
                  <a:srgbClr val="667085"/>
                </a:solidFill>
                <a:latin typeface="Yu Gothic"/>
              </a:rPr>
              <a:t>IPA非機能要求グレードを参考に、目標値・測定方法・実現手段・合意状態を管理する。</a:t>
            </a:r>
          </a:p>
          <a:p>
            <a:pPr>
              <a:buFont typeface="Yu Gothic"/>
              <a:buChar char="●"/>
            </a:pPr>
            <a:r>
              <a:rPr sz="1400">
                <a:solidFill>
                  <a:srgbClr val="1F2937"/>
                </a:solidFill>
                <a:latin typeface="Yu Gothic"/>
              </a:rPr>
              <a:t>NFR-AVL-01（可用性）: 平日8:00–22:00の月間稼働率99.9%以上。2AZ配置・ヘルスチェック・ローリング更新。条件付合意。</a:t>
            </a:r>
          </a:p>
          <a:p>
            <a:pPr>
              <a:buFont typeface="Yu Gothic"/>
              <a:buChar char="●"/>
            </a:pPr>
            <a:r>
              <a:rPr sz="1400">
                <a:solidFill>
                  <a:srgbClr val="1F2937"/>
                </a:solidFill>
                <a:latin typeface="Yu Gothic"/>
              </a:rPr>
              <a:t>NFR-AVL-02（回復性）: RTO 4時間／RPO 15分。年1回の復旧訓練で実測。日次バックアップ＋WAL 15分転送で実現。合意状態: 要確認。</a:t>
            </a:r>
          </a:p>
          <a:p>
            <a:pPr>
              <a:buFont typeface="Yu Gothic"/>
              <a:buChar char="●"/>
            </a:pPr>
            <a:r>
              <a:rPr sz="1400">
                <a:solidFill>
                  <a:srgbClr val="1F2937"/>
                </a:solidFill>
                <a:latin typeface="Yu Gothic"/>
              </a:rPr>
              <a:t>NFR-PERF-01（性能）: 通常申請 p95 1.0秒以下、20 TPS。APMで5分窓測定。合意済。</a:t>
            </a:r>
          </a:p>
          <a:p>
            <a:pPr>
              <a:buFont typeface="Yu Gothic"/>
              <a:buChar char="●"/>
            </a:pPr>
            <a:r>
              <a:rPr sz="1400">
                <a:solidFill>
                  <a:srgbClr val="1F2937"/>
                </a:solidFill>
                <a:latin typeface="Yu Gothic"/>
              </a:rPr>
              <a:t>NFR-OPS-04（再送）: 1/5/30/120/600秒、最大5回。Outbox Worker・指数バックオフ・DLQ。合意済。</a:t>
            </a:r>
          </a:p>
        </p:txBody>
      </p:sp>
      <p:sp>
        <p:nvSpPr>
          <p:cNvPr id="4" name="Date Placeholder 3"/>
          <p:cNvSpPr>
            <a:spLocks noGrp="1"/>
          </p:cNvSpPr>
          <p:nvPr>
            <p:ph type="dt" sz="half" idx="10"/>
          </p:nvPr>
        </p:nvSpPr>
        <p:spPr/>
        <p:txBody>
          <a:bodyPr/>
          <a:lstStyle/>
          <a:p>
            <a:fld id="{5BCAD085-E8A6-8845-BD4E-CB4CCA059FC4}" type="datetimeFigureOut">
              <a:rPr lang="en-US" smtClean="0"/>
              <a:t>2026-08-23</a:t>
            </a:fld>
            <a:endParaRPr lang="en-US"/>
          </a:p>
        </p:txBody>
      </p:sp>
      <p:sp>
        <p:nvSpPr>
          <p:cNvPr id="5" name="Footer Placeholder 4"/>
          <p:cNvSpPr>
            <a:spLocks noGrp="1"/>
          </p:cNvSpPr>
          <p:nvPr>
            <p:ph type="ftr" sz="quarter" idx="11"/>
          </p:nvPr>
        </p:nvSpPr>
        <p:spPr/>
        <p:txBody>
          <a:bodyPr/>
          <a:lstStyle/>
          <a:p>
            <a:r>
              <a:rPr lang="ja-JP" sz="1200"/>
              <a:t>RTMD PPTX変換検証 / CONFIDENTIAL（検証用）</a:t>
            </a:r>
          </a:p>
        </p:txBody>
      </p:sp>
      <p:sp>
        <p:nvSpPr>
          <p:cNvPr id="6" name="Slide Number Placeholder 5"/>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7.2 テスト実施サマリーと経費区分内訳（例示）</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8</a:t>
            </a:fld>
            <a:endParaRPr lang="en-US"/>
          </a:p>
        </p:txBody>
      </p:sp>
      <p:graphicFrame>
        <p:nvGraphicFramePr>
          <p:cNvPr id="6" name="Chart 5"/>
          <p:cNvGraphicFramePr>
            <a:graphicFrameLocks noGrp="1"/>
          </p:cNvGraphicFramePr>
          <p:nvPr/>
        </p:nvGraphicFramePr>
        <p:xfrm>
          <a:off x="457200" y="1371600"/>
          <a:ext cx="5303520" cy="3840480"/>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6309360" y="1371600"/>
          <a:ext cx="5303520" cy="3840480"/>
        </p:xfrm>
        <a:graphic>
          <a:graphicData uri="http://schemas.openxmlformats.org/drawingml/2006/chart">
            <c:chart xmlns:c="http://schemas.openxmlformats.org/drawingml/2006/chart" r:id="rId3"/>
          </a:graphicData>
        </a:graphic>
      </p:graphicFrame>
      <p:sp>
        <p:nvSpPr>
          <p:cNvPr id="8" name="TextBox 7"/>
          <p:cNvSpPr txBox="1"/>
          <p:nvPr/>
        </p:nvSpPr>
        <p:spPr>
          <a:xfrm>
            <a:off x="457200" y="5394960"/>
            <a:ext cx="11247120" cy="822960"/>
          </a:xfrm>
          <a:prstGeom prst="rect">
            <a:avLst/>
          </a:prstGeom>
          <a:noFill/>
        </p:spPr>
        <p:txBody>
          <a:bodyPr wrap="none">
            <a:spAutoFit/>
          </a:bodyPr>
          <a:lstStyle/>
          <a:p>
            <a:r>
              <a:rPr sz="1100">
                <a:solidFill>
                  <a:srgbClr val="667085"/>
                </a:solidFill>
                <a:latin typeface="Yu Gothic"/>
              </a:rPr>
              <a:t>総件数9 / 合格0 / 不合格0 / 未実施9（07_テストシナリオ 7.2 実施サマリー）。円グラフは経費区分内訳の例示（F-05 税区分 STANDARD/REDUCED/EXEMPT を利用）。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7.1 代表テストシナリオ（抜粋）</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9</a:t>
            </a:fld>
            <a:endParaRPr lang="en-US"/>
          </a:p>
        </p:txBody>
      </p:sp>
      <p:graphicFrame>
        <p:nvGraphicFramePr>
          <p:cNvPr id="6" name="Table 5"/>
          <p:cNvGraphicFramePr>
            <a:graphicFrameLocks noGrp="1"/>
          </p:cNvGraphicFramePr>
          <p:nvPr/>
        </p:nvGraphicFramePr>
        <p:xfrm>
          <a:off x="365760" y="1463040"/>
          <a:ext cx="11430000" cy="3291840"/>
        </p:xfrm>
        <a:graphic>
          <a:graphicData uri="http://schemas.openxmlformats.org/drawingml/2006/table">
            <a:tbl>
              <a:tblPr firstRow="1" bandRow="1">
                <a:tableStyleId>{5C22544A-7EE6-4342-B048-85BDC9FD1C3A}</a:tableStyleId>
              </a:tblPr>
              <a:tblGrid>
                <a:gridCol w="1005840"/>
                <a:gridCol w="2743200"/>
                <a:gridCol w="2651760"/>
                <a:gridCol w="1188720"/>
                <a:gridCol w="1554480"/>
                <a:gridCol w="2286000"/>
              </a:tblGrid>
              <a:tr h="548640">
                <a:tc>
                  <a:txBody>
                    <a:bodyPr/>
                    <a:lstStyle/>
                    <a:p>
                      <a:r>
                        <a:rPr b="1" sz="1100">
                          <a:solidFill>
                            <a:srgbClr val="FFFFFF"/>
                          </a:solidFill>
                          <a:latin typeface="Yu Gothic"/>
                        </a:rPr>
                        <a:t>TC-ID</a:t>
                      </a:r>
                    </a:p>
                  </a:txBody>
                  <a:tcPr>
                    <a:solidFill>
                      <a:srgbClr val="17365D"/>
                    </a:solidFill>
                  </a:tcPr>
                </a:tc>
                <a:tc>
                  <a:txBody>
                    <a:bodyPr/>
                    <a:lstStyle/>
                    <a:p>
                      <a:r>
                        <a:rPr b="1" sz="1100">
                          <a:solidFill>
                            <a:srgbClr val="FFFFFF"/>
                          </a:solidFill>
                          <a:latin typeface="Yu Gothic"/>
                        </a:rPr>
                        <a:t>観点／入力</a:t>
                      </a:r>
                    </a:p>
                  </a:txBody>
                  <a:tcPr>
                    <a:solidFill>
                      <a:srgbClr val="17365D"/>
                    </a:solidFill>
                  </a:tcPr>
                </a:tc>
                <a:tc>
                  <a:txBody>
                    <a:bodyPr/>
                    <a:lstStyle/>
                    <a:p>
                      <a:r>
                        <a:rPr b="1" sz="1100">
                          <a:solidFill>
                            <a:srgbClr val="FFFFFF"/>
                          </a:solidFill>
                          <a:latin typeface="Yu Gothic"/>
                        </a:rPr>
                        <a:t>通過経路</a:t>
                      </a:r>
                    </a:p>
                  </a:txBody>
                  <a:tcPr>
                    <a:solidFill>
                      <a:srgbClr val="17365D"/>
                    </a:solidFill>
                  </a:tcPr>
                </a:tc>
                <a:tc>
                  <a:txBody>
                    <a:bodyPr/>
                    <a:lstStyle/>
                    <a:p>
                      <a:r>
                        <a:rPr b="1" sz="1100">
                          <a:solidFill>
                            <a:srgbClr val="FFFFFF"/>
                          </a:solidFill>
                          <a:latin typeface="Yu Gothic"/>
                        </a:rPr>
                        <a:t>期待HTTP</a:t>
                      </a:r>
                    </a:p>
                  </a:txBody>
                  <a:tcPr>
                    <a:solidFill>
                      <a:srgbClr val="17365D"/>
                    </a:solidFill>
                  </a:tcPr>
                </a:tc>
                <a:tc>
                  <a:txBody>
                    <a:bodyPr/>
                    <a:lstStyle/>
                    <a:p>
                      <a:r>
                        <a:rPr b="1" sz="1100">
                          <a:solidFill>
                            <a:srgbClr val="FFFFFF"/>
                          </a:solidFill>
                          <a:latin typeface="Yu Gothic"/>
                        </a:rPr>
                        <a:t>期待最終状態</a:t>
                      </a:r>
                    </a:p>
                  </a:txBody>
                  <a:tcPr>
                    <a:solidFill>
                      <a:srgbClr val="17365D"/>
                    </a:solidFill>
                  </a:tcPr>
                </a:tc>
                <a:tc>
                  <a:txBody>
                    <a:bodyPr/>
                    <a:lstStyle/>
                    <a:p>
                      <a:r>
                        <a:rPr b="1" sz="1100">
                          <a:solidFill>
                            <a:srgbClr val="FFFFFF"/>
                          </a:solidFill>
                          <a:latin typeface="Yu Gothic"/>
                        </a:rPr>
                        <a:t>関連設計</a:t>
                      </a:r>
                    </a:p>
                  </a:txBody>
                  <a:tcPr>
                    <a:solidFill>
                      <a:srgbClr val="17365D"/>
                    </a:solidFill>
                  </a:tcPr>
                </a:tc>
              </a:tr>
              <a:tr h="548640">
                <a:tc>
                  <a:txBody>
                    <a:bodyPr/>
                    <a:lstStyle/>
                    <a:p>
                      <a:r>
                        <a:rPr sz="1050">
                          <a:solidFill>
                            <a:srgbClr val="1F2937"/>
                          </a:solidFill>
                          <a:latin typeface="Yu Gothic"/>
                        </a:rPr>
                        <a:t>TC-001</a:t>
                      </a:r>
                    </a:p>
                  </a:txBody>
                  <a:tcPr/>
                </a:tc>
                <a:tc>
                  <a:txBody>
                    <a:bodyPr/>
                    <a:lstStyle/>
                    <a:p>
                      <a:r>
                        <a:rPr sz="1050">
                          <a:solidFill>
                            <a:srgbClr val="1F2937"/>
                          </a:solidFill>
                          <a:latin typeface="Yu Gothic"/>
                        </a:rPr>
                        <a:t>12,800円、領収書あり</a:t>
                      </a:r>
                    </a:p>
                  </a:txBody>
                  <a:tcPr/>
                </a:tc>
                <a:tc>
                  <a:txBody>
                    <a:bodyPr/>
                    <a:lstStyle/>
                    <a:p>
                      <a:r>
                        <a:rPr sz="1050">
                          <a:solidFill>
                            <a:srgbClr val="1F2937"/>
                          </a:solidFill>
                          <a:latin typeface="Yu Gothic"/>
                        </a:rPr>
                        <a:t>課長承認→会計成功</a:t>
                      </a:r>
                    </a:p>
                  </a:txBody>
                  <a:tcPr/>
                </a:tc>
                <a:tc>
                  <a:txBody>
                    <a:bodyPr/>
                    <a:lstStyle/>
                    <a:p>
                      <a:r>
                        <a:rPr sz="1050">
                          <a:solidFill>
                            <a:srgbClr val="1F2937"/>
                          </a:solidFill>
                          <a:latin typeface="Yu Gothic"/>
                        </a:rPr>
                        <a:t>201</a:t>
                      </a:r>
                    </a:p>
                  </a:txBody>
                  <a:tcPr/>
                </a:tc>
                <a:tc>
                  <a:txBody>
                    <a:bodyPr/>
                    <a:lstStyle/>
                    <a:p>
                      <a:r>
                        <a:rPr sz="1050">
                          <a:solidFill>
                            <a:srgbClr val="1F2937"/>
                          </a:solidFill>
                          <a:latin typeface="Yu Gothic"/>
                        </a:rPr>
                        <a:t>PAID</a:t>
                      </a:r>
                    </a:p>
                  </a:txBody>
                  <a:tcPr/>
                </a:tc>
                <a:tc>
                  <a:txBody>
                    <a:bodyPr/>
                    <a:lstStyle/>
                    <a:p>
                      <a:r>
                        <a:rPr sz="1050">
                          <a:solidFill>
                            <a:srgbClr val="1F2937"/>
                          </a:solidFill>
                          <a:latin typeface="Yu Gothic"/>
                        </a:rPr>
                        <a:t>TR-02/03/04/07/08, API-01</a:t>
                      </a:r>
                    </a:p>
                  </a:txBody>
                  <a:tcPr/>
                </a:tc>
              </a:tr>
              <a:tr h="548640">
                <a:tc>
                  <a:txBody>
                    <a:bodyPr/>
                    <a:lstStyle/>
                    <a:p>
                      <a:r>
                        <a:rPr sz="1050">
                          <a:solidFill>
                            <a:srgbClr val="1F2937"/>
                          </a:solidFill>
                          <a:latin typeface="Yu Gothic"/>
                        </a:rPr>
                        <a:t>TC-004</a:t>
                      </a:r>
                    </a:p>
                  </a:txBody>
                  <a:tcPr/>
                </a:tc>
                <a:tc>
                  <a:txBody>
                    <a:bodyPr/>
                    <a:lstStyle/>
                    <a:p>
                      <a:r>
                        <a:rPr sz="1050">
                          <a:solidFill>
                            <a:srgbClr val="1F2937"/>
                          </a:solidFill>
                          <a:latin typeface="Yu Gothic"/>
                        </a:rPr>
                        <a:t>同一Idempotency-Keyを再送</a:t>
                      </a:r>
                    </a:p>
                  </a:txBody>
                  <a:tcPr/>
                </a:tc>
                <a:tc>
                  <a:txBody>
                    <a:bodyPr/>
                    <a:lstStyle/>
                    <a:p>
                      <a:r>
                        <a:rPr sz="1050">
                          <a:solidFill>
                            <a:srgbClr val="1F2937"/>
                          </a:solidFill>
                          <a:latin typeface="Yu Gothic"/>
                        </a:rPr>
                        <a:t>既存結果を返却</a:t>
                      </a:r>
                    </a:p>
                  </a:txBody>
                  <a:tcPr/>
                </a:tc>
                <a:tc>
                  <a:txBody>
                    <a:bodyPr/>
                    <a:lstStyle/>
                    <a:p>
                      <a:r>
                        <a:rPr sz="1050">
                          <a:solidFill>
                            <a:srgbClr val="1F2937"/>
                          </a:solidFill>
                          <a:latin typeface="Yu Gothic"/>
                        </a:rPr>
                        <a:t>201</a:t>
                      </a:r>
                    </a:p>
                  </a:txBody>
                  <a:tcPr/>
                </a:tc>
                <a:tc>
                  <a:txBody>
                    <a:bodyPr/>
                    <a:lstStyle/>
                    <a:p>
                      <a:r>
                        <a:rPr sz="1050">
                          <a:solidFill>
                            <a:srgbClr val="1F2937"/>
                          </a:solidFill>
                          <a:latin typeface="Yu Gothic"/>
                        </a:rPr>
                        <a:t>SUBMITTED</a:t>
                      </a:r>
                    </a:p>
                  </a:txBody>
                  <a:tcPr/>
                </a:tc>
                <a:tc>
                  <a:txBody>
                    <a:bodyPr/>
                    <a:lstStyle/>
                    <a:p>
                      <a:r>
                        <a:rPr sz="1050">
                          <a:solidFill>
                            <a:srgbClr val="1F2937"/>
                          </a:solidFill>
                          <a:latin typeface="Yu Gothic"/>
                        </a:rPr>
                        <a:t>DR-04, API-01</a:t>
                      </a:r>
                    </a:p>
                  </a:txBody>
                  <a:tcPr/>
                </a:tc>
              </a:tr>
              <a:tr h="548640">
                <a:tc>
                  <a:txBody>
                    <a:bodyPr/>
                    <a:lstStyle/>
                    <a:p>
                      <a:r>
                        <a:rPr sz="1050">
                          <a:solidFill>
                            <a:srgbClr val="1F2937"/>
                          </a:solidFill>
                          <a:latin typeface="Yu Gothic"/>
                        </a:rPr>
                        <a:t>TC-005</a:t>
                      </a:r>
                    </a:p>
                  </a:txBody>
                  <a:tcPr/>
                </a:tc>
                <a:tc>
                  <a:txBody>
                    <a:bodyPr/>
                    <a:lstStyle/>
                    <a:p>
                      <a:r>
                        <a:rPr sz="1050">
                          <a:solidFill>
                            <a:srgbClr val="1F2937"/>
                          </a:solidFill>
                          <a:latin typeface="Yu Gothic"/>
                        </a:rPr>
                        <a:t>承認者が理由付き差戻し</a:t>
                      </a:r>
                    </a:p>
                  </a:txBody>
                  <a:tcPr/>
                </a:tc>
                <a:tc>
                  <a:txBody>
                    <a:bodyPr/>
                    <a:lstStyle/>
                    <a:p>
                      <a:r>
                        <a:rPr sz="1050">
                          <a:solidFill>
                            <a:srgbClr val="1F2937"/>
                          </a:solidFill>
                          <a:latin typeface="Yu Gothic"/>
                        </a:rPr>
                        <a:t>PENDING→RETURNED</a:t>
                      </a:r>
                    </a:p>
                  </a:txBody>
                  <a:tcPr/>
                </a:tc>
                <a:tc>
                  <a:txBody>
                    <a:bodyPr/>
                    <a:lstStyle/>
                    <a:p>
                      <a:r>
                        <a:rPr sz="1050">
                          <a:solidFill>
                            <a:srgbClr val="1F2937"/>
                          </a:solidFill>
                          <a:latin typeface="Yu Gothic"/>
                        </a:rPr>
                        <a:t>200</a:t>
                      </a:r>
                    </a:p>
                  </a:txBody>
                  <a:tcPr/>
                </a:tc>
                <a:tc>
                  <a:txBody>
                    <a:bodyPr/>
                    <a:lstStyle/>
                    <a:p>
                      <a:r>
                        <a:rPr sz="1050">
                          <a:solidFill>
                            <a:srgbClr val="1F2937"/>
                          </a:solidFill>
                          <a:latin typeface="Yu Gothic"/>
                        </a:rPr>
                        <a:t>RETURNED</a:t>
                      </a:r>
                    </a:p>
                  </a:txBody>
                  <a:tcPr/>
                </a:tc>
                <a:tc>
                  <a:txBody>
                    <a:bodyPr/>
                    <a:lstStyle/>
                    <a:p>
                      <a:r>
                        <a:rPr sz="1050">
                          <a:solidFill>
                            <a:srgbClr val="1F2937"/>
                          </a:solidFill>
                          <a:latin typeface="Yu Gothic"/>
                        </a:rPr>
                        <a:t>TR-05</a:t>
                      </a:r>
                    </a:p>
                  </a:txBody>
                  <a:tcPr/>
                </a:tc>
              </a:tr>
              <a:tr h="548640">
                <a:tc>
                  <a:txBody>
                    <a:bodyPr/>
                    <a:lstStyle/>
                    <a:p>
                      <a:r>
                        <a:rPr sz="1050">
                          <a:solidFill>
                            <a:srgbClr val="1F2937"/>
                          </a:solidFill>
                          <a:latin typeface="Yu Gothic"/>
                        </a:rPr>
                        <a:t>TC-008</a:t>
                      </a:r>
                    </a:p>
                  </a:txBody>
                  <a:tcPr/>
                </a:tc>
                <a:tc>
                  <a:txBody>
                    <a:bodyPr/>
                    <a:lstStyle/>
                    <a:p>
                      <a:r>
                        <a:rPr sz="1050">
                          <a:solidFill>
                            <a:srgbClr val="1F2937"/>
                          </a:solidFill>
                          <a:latin typeface="Yu Gothic"/>
                        </a:rPr>
                        <a:t>Event Busを5分停止</a:t>
                      </a:r>
                    </a:p>
                  </a:txBody>
                  <a:tcPr/>
                </a:tc>
                <a:tc>
                  <a:txBody>
                    <a:bodyPr/>
                    <a:lstStyle/>
                    <a:p>
                      <a:r>
                        <a:rPr sz="1050">
                          <a:solidFill>
                            <a:srgbClr val="1F2937"/>
                          </a:solidFill>
                          <a:latin typeface="Yu Gothic"/>
                        </a:rPr>
                        <a:t>Outbox再送→承認タスク生成</a:t>
                      </a:r>
                    </a:p>
                  </a:txBody>
                  <a:tcPr/>
                </a:tc>
                <a:tc>
                  <a:txBody>
                    <a:bodyPr/>
                    <a:lstStyle/>
                    <a:p>
                      <a:r>
                        <a:rPr sz="1050">
                          <a:solidFill>
                            <a:srgbClr val="1F2937"/>
                          </a:solidFill>
                          <a:latin typeface="Yu Gothic"/>
                        </a:rPr>
                        <a:t>201</a:t>
                      </a:r>
                    </a:p>
                  </a:txBody>
                  <a:tcPr/>
                </a:tc>
                <a:tc>
                  <a:txBody>
                    <a:bodyPr/>
                    <a:lstStyle/>
                    <a:p>
                      <a:r>
                        <a:rPr sz="1050">
                          <a:solidFill>
                            <a:srgbClr val="1F2937"/>
                          </a:solidFill>
                          <a:latin typeface="Yu Gothic"/>
                        </a:rPr>
                        <a:t>PENDING</a:t>
                      </a:r>
                    </a:p>
                  </a:txBody>
                  <a:tcPr/>
                </a:tc>
                <a:tc>
                  <a:txBody>
                    <a:bodyPr/>
                    <a:lstStyle/>
                    <a:p>
                      <a:r>
                        <a:rPr sz="1050">
                          <a:solidFill>
                            <a:srgbClr val="1F2937"/>
                          </a:solidFill>
                          <a:latin typeface="Yu Gothic"/>
                        </a:rPr>
                        <a:t>SQ-01, EVT-01, NFR-OPS-04</a:t>
                      </a:r>
                    </a:p>
                  </a:txBody>
                  <a:tcPr/>
                </a:tc>
              </a:tr>
              <a:tr h="548640">
                <a:tc>
                  <a:txBody>
                    <a:bodyPr/>
                    <a:lstStyle/>
                    <a:p>
                      <a:r>
                        <a:rPr sz="1050">
                          <a:solidFill>
                            <a:srgbClr val="B42318"/>
                          </a:solidFill>
                          <a:latin typeface="Yu Gothic"/>
                        </a:rPr>
                        <a:t>TC-009</a:t>
                      </a:r>
                    </a:p>
                  </a:txBody>
                  <a:tcPr>
                    <a:solidFill>
                      <a:srgbClr val="FFF4E5"/>
                    </a:solidFill>
                  </a:tcPr>
                </a:tc>
                <a:tc>
                  <a:txBody>
                    <a:bodyPr/>
                    <a:lstStyle/>
                    <a:p>
                      <a:r>
                        <a:rPr sz="1050">
                          <a:solidFill>
                            <a:srgbClr val="B42318"/>
                          </a:solidFill>
                          <a:latin typeface="Yu Gothic"/>
                        </a:rPr>
                        <a:t>会計I/Fが5回連続失敗</a:t>
                      </a:r>
                    </a:p>
                  </a:txBody>
                  <a:tcPr>
                    <a:solidFill>
                      <a:srgbClr val="FFF4E5"/>
                    </a:solidFill>
                  </a:tcPr>
                </a:tc>
                <a:tc>
                  <a:txBody>
                    <a:bodyPr/>
                    <a:lstStyle/>
                    <a:p>
                      <a:r>
                        <a:rPr sz="1050">
                          <a:solidFill>
                            <a:srgbClr val="B42318"/>
                          </a:solidFill>
                          <a:latin typeface="Yu Gothic"/>
                        </a:rPr>
                        <a:t>DLQ→ERROR→手動再送</a:t>
                      </a:r>
                    </a:p>
                  </a:txBody>
                  <a:tcPr>
                    <a:solidFill>
                      <a:srgbClr val="FFF4E5"/>
                    </a:solidFill>
                  </a:tcPr>
                </a:tc>
                <a:tc>
                  <a:txBody>
                    <a:bodyPr/>
                    <a:lstStyle/>
                    <a:p>
                      <a:r>
                        <a:rPr sz="1050">
                          <a:solidFill>
                            <a:srgbClr val="B42318"/>
                          </a:solidFill>
                          <a:latin typeface="Yu Gothic"/>
                        </a:rPr>
                        <a:t>200</a:t>
                      </a:r>
                    </a:p>
                  </a:txBody>
                  <a:tcPr>
                    <a:solidFill>
                      <a:srgbClr val="FFF4E5"/>
                    </a:solidFill>
                  </a:tcPr>
                </a:tc>
                <a:tc>
                  <a:txBody>
                    <a:bodyPr/>
                    <a:lstStyle/>
                    <a:p>
                      <a:r>
                        <a:rPr sz="1050">
                          <a:solidFill>
                            <a:srgbClr val="B42318"/>
                          </a:solidFill>
                          <a:latin typeface="Yu Gothic"/>
                        </a:rPr>
                        <a:t>ERROR</a:t>
                      </a:r>
                    </a:p>
                  </a:txBody>
                  <a:tcPr>
                    <a:solidFill>
                      <a:srgbClr val="FFF4E5"/>
                    </a:solidFill>
                  </a:tcPr>
                </a:tc>
                <a:tc>
                  <a:txBody>
                    <a:bodyPr/>
                    <a:lstStyle/>
                    <a:p>
                      <a:r>
                        <a:rPr sz="1050">
                          <a:solidFill>
                            <a:srgbClr val="B42318"/>
                          </a:solidFill>
                          <a:latin typeface="Yu Gothic"/>
                        </a:rPr>
                        <a:t>TR-09/10, BR-03, OPS-ALM-02</a:t>
                      </a:r>
                    </a:p>
                  </a:txBody>
                  <a:tcPr>
                    <a:solidFill>
                      <a:srgbClr val="FFF4E5"/>
                    </a:solidFill>
                  </a:tcPr>
                </a:tc>
              </a:tr>
            </a:tbl>
          </a:graphicData>
        </a:graphic>
      </p:graphicFrame>
      <p:sp>
        <p:nvSpPr>
          <p:cNvPr id="7" name="TextBox 6"/>
          <p:cNvSpPr txBox="1"/>
          <p:nvPr/>
        </p:nvSpPr>
        <p:spPr>
          <a:xfrm>
            <a:off x="365760" y="4892040"/>
            <a:ext cx="11430000" cy="548640"/>
          </a:xfrm>
          <a:prstGeom prst="rect">
            <a:avLst/>
          </a:prstGeom>
          <a:noFill/>
        </p:spPr>
        <p:txBody>
          <a:bodyPr wrap="none">
            <a:spAutoFit/>
          </a:bodyPr>
          <a:lstStyle/>
          <a:p>
            <a:r>
              <a:rPr sz="1100" i="1">
                <a:solidFill>
                  <a:srgbClr val="667085"/>
                </a:solidFill>
                <a:latin typeface="Yu Gothic"/>
              </a:rPr>
              <a:t>総件数9件（7.2 実施サマリー）のうち代表5件を抜粋。全件は元設計書 07_テストシナリオを参照。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6.2 POST /v1/expense-claims 契約（API-01）</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10</a:t>
            </a:fld>
            <a:endParaRPr lang="en-US"/>
          </a:p>
        </p:txBody>
      </p:sp>
      <p:graphicFrame>
        <p:nvGraphicFramePr>
          <p:cNvPr id="6" name="Table 5"/>
          <p:cNvGraphicFramePr>
            <a:graphicFrameLocks noGrp="1"/>
          </p:cNvGraphicFramePr>
          <p:nvPr/>
        </p:nvGraphicFramePr>
        <p:xfrm>
          <a:off x="365760" y="1371600"/>
          <a:ext cx="7863840" cy="3749039"/>
        </p:xfrm>
        <a:graphic>
          <a:graphicData uri="http://schemas.openxmlformats.org/drawingml/2006/table">
            <a:tbl>
              <a:tblPr firstRow="1" bandRow="1">
                <a:tableStyleId>{5C22544A-7EE6-4342-B048-85BDC9FD1C3A}</a:tableStyleId>
              </a:tblPr>
              <a:tblGrid>
                <a:gridCol w="1005840"/>
                <a:gridCol w="2103120"/>
                <a:gridCol w="1005840"/>
                <a:gridCol w="914400"/>
                <a:gridCol w="2834640"/>
              </a:tblGrid>
              <a:tr h="340821">
                <a:tc>
                  <a:txBody>
                    <a:bodyPr/>
                    <a:lstStyle/>
                    <a:p>
                      <a:r>
                        <a:rPr b="1" sz="1100">
                          <a:solidFill>
                            <a:srgbClr val="FFFFFF"/>
                          </a:solidFill>
                          <a:latin typeface="Yu Gothic"/>
                        </a:rPr>
                        <a:t>区分</a:t>
                      </a:r>
                    </a:p>
                  </a:txBody>
                  <a:tcPr>
                    <a:solidFill>
                      <a:srgbClr val="17365D"/>
                    </a:solidFill>
                  </a:tcPr>
                </a:tc>
                <a:tc>
                  <a:txBody>
                    <a:bodyPr/>
                    <a:lstStyle/>
                    <a:p>
                      <a:r>
                        <a:rPr b="1" sz="1100">
                          <a:solidFill>
                            <a:srgbClr val="FFFFFF"/>
                          </a:solidFill>
                          <a:latin typeface="Yu Gothic"/>
                        </a:rPr>
                        <a:t>名称</a:t>
                      </a:r>
                    </a:p>
                  </a:txBody>
                  <a:tcPr>
                    <a:solidFill>
                      <a:srgbClr val="17365D"/>
                    </a:solidFill>
                  </a:tcPr>
                </a:tc>
                <a:tc>
                  <a:txBody>
                    <a:bodyPr/>
                    <a:lstStyle/>
                    <a:p>
                      <a:r>
                        <a:rPr b="1" sz="1100">
                          <a:solidFill>
                            <a:srgbClr val="FFFFFF"/>
                          </a:solidFill>
                          <a:latin typeface="Yu Gothic"/>
                        </a:rPr>
                        <a:t>型</a:t>
                      </a:r>
                    </a:p>
                  </a:txBody>
                  <a:tcPr>
                    <a:solidFill>
                      <a:srgbClr val="17365D"/>
                    </a:solidFill>
                  </a:tcPr>
                </a:tc>
                <a:tc>
                  <a:txBody>
                    <a:bodyPr/>
                    <a:lstStyle/>
                    <a:p>
                      <a:r>
                        <a:rPr b="1" sz="1100">
                          <a:solidFill>
                            <a:srgbClr val="FFFFFF"/>
                          </a:solidFill>
                          <a:latin typeface="Yu Gothic"/>
                        </a:rPr>
                        <a:t>必須</a:t>
                      </a:r>
                    </a:p>
                  </a:txBody>
                  <a:tcPr>
                    <a:solidFill>
                      <a:srgbClr val="17365D"/>
                    </a:solidFill>
                  </a:tcPr>
                </a:tc>
                <a:tc>
                  <a:txBody>
                    <a:bodyPr/>
                    <a:lstStyle/>
                    <a:p>
                      <a:r>
                        <a:rPr b="1" sz="1100">
                          <a:solidFill>
                            <a:srgbClr val="FFFFFF"/>
                          </a:solidFill>
                          <a:latin typeface="Yu Gothic"/>
                        </a:rPr>
                        <a:t>説明</a:t>
                      </a:r>
                    </a:p>
                  </a:txBody>
                  <a:tcPr>
                    <a:solidFill>
                      <a:srgbClr val="17365D"/>
                    </a:solidFill>
                  </a:tcPr>
                </a:tc>
              </a:tr>
              <a:tr h="340821">
                <a:tc rowSpan="2">
                  <a:txBody>
                    <a:bodyPr/>
                    <a:lstStyle/>
                    <a:p>
                      <a:r>
                        <a:rPr b="1" sz="1050">
                          <a:solidFill>
                            <a:srgbClr val="0B7285"/>
                          </a:solidFill>
                          <a:latin typeface="Yu Gothic"/>
                        </a:rPr>
                        <a:t>Header</a:t>
                      </a:r>
                    </a:p>
                  </a:txBody>
                  <a:tcPr/>
                </a:tc>
                <a:tc>
                  <a:txBody>
                    <a:bodyPr/>
                    <a:lstStyle/>
                    <a:p>
                      <a:r>
                        <a:rPr sz="1050">
                          <a:solidFill>
                            <a:srgbClr val="1F2937"/>
                          </a:solidFill>
                          <a:latin typeface="Yu Gothic"/>
                        </a:rPr>
                        <a:t>Authorization</a:t>
                      </a:r>
                    </a:p>
                  </a:txBody>
                  <a:tcPr/>
                </a:tc>
                <a:tc>
                  <a:txBody>
                    <a:bodyPr/>
                    <a:lstStyle/>
                    <a:p>
                      <a:r>
                        <a:rPr sz="1050">
                          <a:solidFill>
                            <a:srgbClr val="1F2937"/>
                          </a:solidFill>
                          <a:latin typeface="Yu Gothic"/>
                        </a:rPr>
                        <a:t>string</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Bearer JWT</a:t>
                      </a:r>
                    </a:p>
                  </a:txBody>
                  <a:tcPr/>
                </a:tc>
              </a:tr>
              <a:tr h="340821">
                <a:tc vMerge="1">
                  <a:txBody>
                    <a:bodyPr/>
                    <a:lstStyle/>
                    <a:p/>
                  </a:txBody>
                  <a:tcPr/>
                </a:tc>
                <a:tc>
                  <a:txBody>
                    <a:bodyPr/>
                    <a:lstStyle/>
                    <a:p>
                      <a:r>
                        <a:rPr sz="1050">
                          <a:solidFill>
                            <a:srgbClr val="1F2937"/>
                          </a:solidFill>
                          <a:latin typeface="Yu Gothic"/>
                        </a:rPr>
                        <a:t>Idempotency-Key</a:t>
                      </a:r>
                    </a:p>
                  </a:txBody>
                  <a:tcPr/>
                </a:tc>
                <a:tc>
                  <a:txBody>
                    <a:bodyPr/>
                    <a:lstStyle/>
                    <a:p>
                      <a:r>
                        <a:rPr sz="1050">
                          <a:solidFill>
                            <a:srgbClr val="1F2937"/>
                          </a:solidFill>
                          <a:latin typeface="Yu Gothic"/>
                        </a:rPr>
                        <a:t>uuid</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同一利用者で24時間一意</a:t>
                      </a:r>
                    </a:p>
                  </a:txBody>
                  <a:tcPr/>
                </a:tc>
              </a:tr>
              <a:tr h="340821">
                <a:tc rowSpan="6">
                  <a:txBody>
                    <a:bodyPr/>
                    <a:lstStyle/>
                    <a:p>
                      <a:r>
                        <a:rPr b="1" sz="1050">
                          <a:solidFill>
                            <a:srgbClr val="0B7285"/>
                          </a:solidFill>
                          <a:latin typeface="Yu Gothic"/>
                        </a:rPr>
                        <a:t>Body</a:t>
                      </a:r>
                    </a:p>
                  </a:txBody>
                  <a:tcPr/>
                </a:tc>
                <a:tc>
                  <a:txBody>
                    <a:bodyPr/>
                    <a:lstStyle/>
                    <a:p>
                      <a:r>
                        <a:rPr sz="1050">
                          <a:solidFill>
                            <a:srgbClr val="1F2937"/>
                          </a:solidFill>
                          <a:latin typeface="Yu Gothic"/>
                        </a:rPr>
                        <a:t>applicationDate</a:t>
                      </a:r>
                    </a:p>
                  </a:txBody>
                  <a:tcPr/>
                </a:tc>
                <a:tc>
                  <a:txBody>
                    <a:bodyPr/>
                    <a:lstStyle/>
                    <a:p>
                      <a:r>
                        <a:rPr sz="1050">
                          <a:solidFill>
                            <a:srgbClr val="1F2937"/>
                          </a:solidFill>
                          <a:latin typeface="Yu Gothic"/>
                        </a:rPr>
                        <a:t>date</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yyyy-mm-dd</a:t>
                      </a:r>
                    </a:p>
                  </a:txBody>
                  <a:tcPr/>
                </a:tc>
              </a:tr>
              <a:tr h="340821">
                <a:tc vMerge="1">
                  <a:txBody>
                    <a:bodyPr/>
                    <a:lstStyle/>
                    <a:p/>
                  </a:txBody>
                  <a:tcPr/>
                </a:tc>
                <a:tc>
                  <a:txBody>
                    <a:bodyPr/>
                    <a:lstStyle/>
                    <a:p>
                      <a:r>
                        <a:rPr sz="1050">
                          <a:solidFill>
                            <a:srgbClr val="1F2937"/>
                          </a:solidFill>
                          <a:latin typeface="Yu Gothic"/>
                        </a:rPr>
                        <a:t>departmentCode</a:t>
                      </a:r>
                    </a:p>
                  </a:txBody>
                  <a:tcPr/>
                </a:tc>
                <a:tc>
                  <a:txBody>
                    <a:bodyPr/>
                    <a:lstStyle/>
                    <a:p>
                      <a:r>
                        <a:rPr sz="1050">
                          <a:solidFill>
                            <a:srgbClr val="1F2937"/>
                          </a:solidFill>
                          <a:latin typeface="Yu Gothic"/>
                        </a:rPr>
                        <a:t>string</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5文字</a:t>
                      </a:r>
                    </a:p>
                  </a:txBody>
                  <a:tcPr/>
                </a:tc>
              </a:tr>
              <a:tr h="340821">
                <a:tc vMerge="1">
                  <a:txBody>
                    <a:bodyPr/>
                    <a:lstStyle/>
                    <a:p/>
                  </a:txBody>
                  <a:tcPr/>
                </a:tc>
                <a:tc>
                  <a:txBody>
                    <a:bodyPr/>
                    <a:lstStyle/>
                    <a:p>
                      <a:r>
                        <a:rPr sz="1050">
                          <a:solidFill>
                            <a:srgbClr val="1F2937"/>
                          </a:solidFill>
                          <a:latin typeface="Yu Gothic"/>
                        </a:rPr>
                        <a:t>description</a:t>
                      </a:r>
                    </a:p>
                  </a:txBody>
                  <a:tcPr/>
                </a:tc>
                <a:tc>
                  <a:txBody>
                    <a:bodyPr/>
                    <a:lstStyle/>
                    <a:p>
                      <a:r>
                        <a:rPr sz="1050">
                          <a:solidFill>
                            <a:srgbClr val="1F2937"/>
                          </a:solidFill>
                          <a:latin typeface="Yu Gothic"/>
                        </a:rPr>
                        <a:t>string</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1〜100文字</a:t>
                      </a:r>
                    </a:p>
                  </a:txBody>
                  <a:tcPr/>
                </a:tc>
              </a:tr>
              <a:tr h="340821">
                <a:tc vMerge="1">
                  <a:txBody>
                    <a:bodyPr/>
                    <a:lstStyle/>
                    <a:p/>
                  </a:txBody>
                  <a:tcPr/>
                </a:tc>
                <a:tc>
                  <a:txBody>
                    <a:bodyPr/>
                    <a:lstStyle/>
                    <a:p>
                      <a:r>
                        <a:rPr sz="1050">
                          <a:solidFill>
                            <a:srgbClr val="1F2937"/>
                          </a:solidFill>
                          <a:latin typeface="Yu Gothic"/>
                        </a:rPr>
                        <a:t>amount</a:t>
                      </a:r>
                    </a:p>
                  </a:txBody>
                  <a:tcPr/>
                </a:tc>
                <a:tc>
                  <a:txBody>
                    <a:bodyPr/>
                    <a:lstStyle/>
                    <a:p>
                      <a:r>
                        <a:rPr sz="1050">
                          <a:solidFill>
                            <a:srgbClr val="1F2937"/>
                          </a:solidFill>
                          <a:latin typeface="Yu Gothic"/>
                        </a:rPr>
                        <a:t>integer</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円、1〜9,999,999</a:t>
                      </a:r>
                    </a:p>
                  </a:txBody>
                  <a:tcPr/>
                </a:tc>
              </a:tr>
              <a:tr h="340821">
                <a:tc vMerge="1">
                  <a:txBody>
                    <a:bodyPr/>
                    <a:lstStyle/>
                    <a:p/>
                  </a:txBody>
                  <a:tcPr/>
                </a:tc>
                <a:tc>
                  <a:txBody>
                    <a:bodyPr/>
                    <a:lstStyle/>
                    <a:p>
                      <a:r>
                        <a:rPr sz="1050">
                          <a:solidFill>
                            <a:srgbClr val="1F2937"/>
                          </a:solidFill>
                          <a:latin typeface="Yu Gothic"/>
                        </a:rPr>
                        <a:t>taxType</a:t>
                      </a:r>
                    </a:p>
                  </a:txBody>
                  <a:tcPr/>
                </a:tc>
                <a:tc>
                  <a:txBody>
                    <a:bodyPr/>
                    <a:lstStyle/>
                    <a:p>
                      <a:r>
                        <a:rPr sz="1050">
                          <a:solidFill>
                            <a:srgbClr val="1F2937"/>
                          </a:solidFill>
                          <a:latin typeface="Yu Gothic"/>
                        </a:rPr>
                        <a:t>enum</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STANDARD / REDUCED / EXEMPT</a:t>
                      </a:r>
                    </a:p>
                  </a:txBody>
                  <a:tcPr/>
                </a:tc>
              </a:tr>
              <a:tr h="340821">
                <a:tc vMerge="1">
                  <a:txBody>
                    <a:bodyPr/>
                    <a:lstStyle/>
                    <a:p/>
                  </a:txBody>
                  <a:tcPr/>
                </a:tc>
                <a:tc>
                  <a:txBody>
                    <a:bodyPr/>
                    <a:lstStyle/>
                    <a:p>
                      <a:r>
                        <a:rPr sz="1050">
                          <a:solidFill>
                            <a:srgbClr val="1F2937"/>
                          </a:solidFill>
                          <a:latin typeface="Yu Gothic"/>
                        </a:rPr>
                        <a:t>receiptFileId</a:t>
                      </a:r>
                    </a:p>
                  </a:txBody>
                  <a:tcPr/>
                </a:tc>
                <a:tc>
                  <a:txBody>
                    <a:bodyPr/>
                    <a:lstStyle/>
                    <a:p>
                      <a:r>
                        <a:rPr sz="1050">
                          <a:solidFill>
                            <a:srgbClr val="1F2937"/>
                          </a:solidFill>
                          <a:latin typeface="Yu Gothic"/>
                        </a:rPr>
                        <a:t>uuid</a:t>
                      </a:r>
                    </a:p>
                  </a:txBody>
                  <a:tcPr/>
                </a:tc>
                <a:tc>
                  <a:txBody>
                    <a:bodyPr/>
                    <a:lstStyle/>
                    <a:p>
                      <a:r>
                        <a:rPr sz="1050">
                          <a:solidFill>
                            <a:srgbClr val="1F2937"/>
                          </a:solidFill>
                          <a:latin typeface="Yu Gothic"/>
                        </a:rPr>
                        <a:t>条件付</a:t>
                      </a:r>
                    </a:p>
                  </a:txBody>
                  <a:tcPr/>
                </a:tc>
                <a:tc>
                  <a:txBody>
                    <a:bodyPr/>
                    <a:lstStyle/>
                    <a:p>
                      <a:r>
                        <a:rPr sz="1050">
                          <a:solidFill>
                            <a:srgbClr val="1F2937"/>
                          </a:solidFill>
                          <a:latin typeface="Yu Gothic"/>
                        </a:rPr>
                        <a:t>10,000円以上で必須</a:t>
                      </a:r>
                    </a:p>
                  </a:txBody>
                  <a:tcPr/>
                </a:tc>
              </a:tr>
              <a:tr h="340821">
                <a:tc rowSpan="2">
                  <a:txBody>
                    <a:bodyPr/>
                    <a:lstStyle/>
                    <a:p>
                      <a:r>
                        <a:rPr b="1" sz="1050">
                          <a:solidFill>
                            <a:srgbClr val="0B7285"/>
                          </a:solidFill>
                          <a:latin typeface="Yu Gothic"/>
                        </a:rPr>
                        <a:t>Response</a:t>
                      </a:r>
                    </a:p>
                  </a:txBody>
                  <a:tcPr/>
                </a:tc>
                <a:tc>
                  <a:txBody>
                    <a:bodyPr/>
                    <a:lstStyle/>
                    <a:p>
                      <a:r>
                        <a:rPr sz="1050">
                          <a:solidFill>
                            <a:srgbClr val="1F2937"/>
                          </a:solidFill>
                          <a:latin typeface="Yu Gothic"/>
                        </a:rPr>
                        <a:t>claimId</a:t>
                      </a:r>
                    </a:p>
                  </a:txBody>
                  <a:tcPr/>
                </a:tc>
                <a:tc>
                  <a:txBody>
                    <a:bodyPr/>
                    <a:lstStyle/>
                    <a:p>
                      <a:r>
                        <a:rPr sz="1050">
                          <a:solidFill>
                            <a:srgbClr val="1F2937"/>
                          </a:solidFill>
                          <a:latin typeface="Yu Gothic"/>
                        </a:rPr>
                        <a:t>uuid</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受付番号</a:t>
                      </a:r>
                    </a:p>
                  </a:txBody>
                  <a:tcPr/>
                </a:tc>
              </a:tr>
              <a:tr h="340829">
                <a:tc vMerge="1">
                  <a:txBody>
                    <a:bodyPr/>
                    <a:lstStyle/>
                    <a:p/>
                  </a:txBody>
                  <a:tcPr/>
                </a:tc>
                <a:tc>
                  <a:txBody>
                    <a:bodyPr/>
                    <a:lstStyle/>
                    <a:p>
                      <a:r>
                        <a:rPr sz="1050">
                          <a:solidFill>
                            <a:srgbClr val="1F2937"/>
                          </a:solidFill>
                          <a:latin typeface="Yu Gothic"/>
                        </a:rPr>
                        <a:t>status</a:t>
                      </a:r>
                    </a:p>
                  </a:txBody>
                  <a:tcPr/>
                </a:tc>
                <a:tc>
                  <a:txBody>
                    <a:bodyPr/>
                    <a:lstStyle/>
                    <a:p>
                      <a:r>
                        <a:rPr sz="1050">
                          <a:solidFill>
                            <a:srgbClr val="1F2937"/>
                          </a:solidFill>
                          <a:latin typeface="Yu Gothic"/>
                        </a:rPr>
                        <a:t>enum</a:t>
                      </a:r>
                    </a:p>
                  </a:txBody>
                  <a:tcPr/>
                </a:tc>
                <a:tc>
                  <a:txBody>
                    <a:bodyPr/>
                    <a:lstStyle/>
                    <a:p>
                      <a:r>
                        <a:rPr sz="1050">
                          <a:solidFill>
                            <a:srgbClr val="1F2937"/>
                          </a:solidFill>
                          <a:latin typeface="Yu Gothic"/>
                        </a:rPr>
                        <a:t>○</a:t>
                      </a:r>
                    </a:p>
                  </a:txBody>
                  <a:tcPr/>
                </a:tc>
                <a:tc>
                  <a:txBody>
                    <a:bodyPr/>
                    <a:lstStyle/>
                    <a:p>
                      <a:r>
                        <a:rPr sz="1050">
                          <a:solidFill>
                            <a:srgbClr val="1F2937"/>
                          </a:solidFill>
                          <a:latin typeface="Yu Gothic"/>
                        </a:rPr>
                        <a:t>SUBMITTED</a:t>
                      </a:r>
                    </a:p>
                  </a:txBody>
                  <a:tcPr/>
                </a:tc>
              </a:tr>
            </a:tbl>
          </a:graphicData>
        </a:graphic>
      </p:graphicFrame>
      <p:sp>
        <p:nvSpPr>
          <p:cNvPr id="7" name="TextBox 6"/>
          <p:cNvSpPr txBox="1"/>
          <p:nvPr/>
        </p:nvSpPr>
        <p:spPr>
          <a:xfrm>
            <a:off x="8412480" y="1371600"/>
            <a:ext cx="3383280" cy="4206240"/>
          </a:xfrm>
          <a:prstGeom prst="rect">
            <a:avLst/>
          </a:prstGeom>
          <a:noFill/>
        </p:spPr>
        <p:txBody>
          <a:bodyPr wrap="square">
            <a:spAutoFit/>
          </a:bodyPr>
          <a:lstStyle/>
          <a:p>
            <a:r>
              <a:rPr sz="1200" b="1">
                <a:solidFill>
                  <a:srgbClr val="17365D"/>
                </a:solidFill>
                <a:latin typeface="Yu Gothic"/>
              </a:rPr>
              <a:t>API-01 契約</a:t>
            </a:r>
          </a:p>
          <a:p>
            <a:r>
              <a:rPr sz="1050" b="0">
                <a:solidFill>
                  <a:srgbClr val="1F2937"/>
                </a:solidFill>
                <a:latin typeface="Yu Gothic"/>
              </a:rPr>
              <a:t>Method: POST</a:t>
            </a:r>
          </a:p>
          <a:p>
            <a:r>
              <a:rPr sz="1050" b="0">
                <a:solidFill>
                  <a:srgbClr val="1F2937"/>
                </a:solidFill>
                <a:latin typeface="Yu Gothic"/>
              </a:rPr>
              <a:t>Path: /v1/expense-claims</a:t>
            </a:r>
          </a:p>
          <a:p>
            <a:r>
              <a:rPr sz="1050" b="0">
                <a:solidFill>
                  <a:srgbClr val="1F2937"/>
                </a:solidFill>
                <a:latin typeface="Yu Gothic"/>
              </a:rPr>
              <a:t>主な応答: 201 / 400 / 401 / 409</a:t>
            </a:r>
          </a:p>
          <a:p>
            <a:r>
              <a:rPr sz="1050" b="0">
                <a:solidFill>
                  <a:srgbClr val="1F2937"/>
                </a:solidFill>
                <a:latin typeface="Yu Gothic"/>
              </a:rPr>
              <a:t>Idempotency-Key: 同一利用者で24時間一意（uuid、必須）</a:t>
            </a:r>
          </a:p>
          <a:p/>
          <a:p>
            <a:r>
              <a:rPr sz="1200" b="1">
                <a:solidFill>
                  <a:srgbClr val="17365D"/>
                </a:solidFill>
                <a:latin typeface="Yu Gothic"/>
              </a:rPr>
              <a:t>TX-01（トランザクション境界）</a:t>
            </a:r>
          </a:p>
          <a:p>
            <a:r>
              <a:rPr sz="1050" b="0">
                <a:solidFill>
                  <a:srgbClr val="1F2937"/>
                </a:solidFill>
                <a:latin typeface="Yu Gothic"/>
              </a:rPr>
              <a:t>書き込み対象: expense_claim（status=SUBMITTED）と outbox_event を同一トランザクションで確定する。</a:t>
            </a:r>
          </a:p>
          <a:p>
            <a:r>
              <a:rPr sz="1050" b="0">
                <a:solidFill>
                  <a:srgbClr val="1F2937"/>
                </a:solidFill>
                <a:latin typeface="Yu Gothic"/>
              </a:rPr>
              <a:t>HTTP応答後のイベント配送は非同期。Event Bus障害時はNFR-OPS-04の間隔で最大5回再送し、承認サービスはevent_idで冪等に処理する。</a:t>
            </a:r>
          </a:p>
          <a:p/>
          <a:p>
            <a:r>
              <a:rPr sz="1050" b="0">
                <a:solidFill>
                  <a:srgbClr val="0B7285"/>
                </a:solidFill>
                <a:latin typeface="Yu Gothic"/>
              </a:rPr>
              <a:t>outbox_event.status: NEW/SENDING/SENT/FAILED</a:t>
            </a:r>
          </a:p>
          <a:p>
            <a:r>
              <a:rPr sz="1050" b="0">
                <a:solidFill>
                  <a:srgbClr val="0B7285"/>
                </a:solidFill>
                <a:latin typeface="Yu Gothic"/>
              </a:rPr>
              <a:t>retry_count: 初期値0、上限5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5.2 項目定義・検証ルール（F-06 領収書）</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11</a:t>
            </a:fld>
            <a:endParaRPr lang="en-US"/>
          </a:p>
        </p:txBody>
      </p:sp>
      <p:sp>
        <p:nvSpPr>
          <p:cNvPr id="6" name="TextBox 5"/>
          <p:cNvSpPr txBox="1"/>
          <p:nvPr/>
        </p:nvSpPr>
        <p:spPr>
          <a:xfrm>
            <a:off x="457200" y="1371600"/>
            <a:ext cx="6949440" cy="4206240"/>
          </a:xfrm>
          <a:prstGeom prst="rect">
            <a:avLst/>
          </a:prstGeom>
          <a:noFill/>
        </p:spPr>
        <p:txBody>
          <a:bodyPr wrap="square">
            <a:spAutoFit/>
          </a:bodyPr>
          <a:lstStyle/>
          <a:p>
            <a:r>
              <a:rPr b="1" i="0" sz="1600">
                <a:solidFill>
                  <a:srgbClr val="17365D"/>
                </a:solidFill>
                <a:latin typeface="Yu Gothic"/>
              </a:rPr>
              <a:t>項目ID F-06</a:t>
            </a:r>
            <a:r>
              <a:rPr b="0" i="0" sz="1600">
                <a:solidFill>
                  <a:srgbClr val="1F2937"/>
                </a:solidFill>
                <a:latin typeface="Yu Gothic"/>
              </a:rPr>
              <a:t>　領収書（file 型）</a:t>
            </a:r>
          </a:p>
          <a:p>
            <a:r>
              <a:rPr b="0" i="1" sz="1300">
                <a:solidFill>
                  <a:srgbClr val="667085"/>
                </a:solidFill>
                <a:latin typeface="Yu Gothic"/>
              </a:rPr>
              <a:t>条件付必須</a:t>
            </a:r>
            <a:r>
              <a:rPr b="0" i="0" sz="1300">
                <a:solidFill>
                  <a:srgbClr val="1F2937"/>
                </a:solidFill>
                <a:latin typeface="Yu Gothic"/>
              </a:rPr>
              <a:t>：</a:t>
            </a:r>
            <a:r>
              <a:rPr b="0" i="0" u="sng" sz="1300">
                <a:solidFill>
                  <a:srgbClr val="1F2937"/>
                </a:solidFill>
                <a:latin typeface="Yu Gothic"/>
              </a:rPr>
              <a:t>10,000円以上は必須</a:t>
            </a:r>
            <a:r>
              <a:rPr b="0" i="0" sz="1300">
                <a:solidFill>
                  <a:srgbClr val="1F2937"/>
                </a:solidFill>
                <a:latin typeface="Yu Gothic"/>
              </a:rPr>
              <a:t>、最大</a:t>
            </a:r>
            <a:r>
              <a:rPr b="1" i="0" sz="1300">
                <a:solidFill>
                  <a:srgbClr val="1F2937"/>
                </a:solidFill>
                <a:latin typeface="Yu Gothic"/>
              </a:rPr>
              <a:t>10MB</a:t>
            </a:r>
            <a:r>
              <a:rPr b="0" i="0" sz="1300">
                <a:solidFill>
                  <a:srgbClr val="1F2937"/>
                </a:solidFill>
                <a:latin typeface="Yu Gothic"/>
              </a:rPr>
              <a:t>。</a:t>
            </a:r>
          </a:p>
          <a:p>
            <a:r>
              <a:rPr b="0" i="0" sz="1200" strike="sngStrike">
                <a:solidFill>
                  <a:srgbClr val="667085"/>
                </a:solidFill>
                <a:latin typeface="Yu Gothic"/>
              </a:rPr>
              <a:t>旧仕様: 5,000円以上は必須</a:t>
            </a:r>
            <a:r>
              <a:rPr b="0" i="0" sz="1200">
                <a:solidFill>
                  <a:srgbClr val="667085"/>
                </a:solidFill>
                <a:latin typeface="Yu Gothic"/>
              </a:rPr>
              <a:t>（2026-08-23改定）</a:t>
            </a:r>
          </a:p>
          <a:p>
            <a:r>
              <a:rPr b="0" i="0" sz="1300">
                <a:solidFill>
                  <a:srgbClr val="1F2937"/>
                </a:solidFill>
                <a:latin typeface="Yu Gothic"/>
              </a:rPr>
              <a:t>エラーコード </a:t>
            </a:r>
            <a:r>
              <a:rPr b="1" i="0" sz="1400">
                <a:solidFill>
                  <a:srgbClr val="B42318"/>
                </a:solidFill>
                <a:latin typeface="Yu Gothic"/>
              </a:rPr>
              <a:t>EXP-E006</a:t>
            </a:r>
          </a:p>
          <a:p>
            <a:r>
              <a:rPr b="0" i="0" sz="1300">
                <a:solidFill>
                  <a:srgbClr val="1F2937"/>
                </a:solidFill>
                <a:latin typeface="Yu Gothic"/>
              </a:rPr>
              <a:t>表示メッセージ：「</a:t>
            </a:r>
            <a:r>
              <a:rPr b="0" i="1" sz="1300">
                <a:solidFill>
                  <a:srgbClr val="0B7285"/>
                </a:solidFill>
                <a:latin typeface="Yu Gothic"/>
              </a:rPr>
              <a:t>10,000円以上の申請には領収書が必要です。</a:t>
            </a:r>
            <a:r>
              <a:rPr b="0" i="0" sz="1300">
                <a:solidFill>
                  <a:srgbClr val="1F2937"/>
                </a:solidFill>
                <a:latin typeface="Yu Gothic"/>
              </a:rPr>
              <a:t>」</a:t>
            </a:r>
          </a:p>
          <a:p>
            <a:r>
              <a:rPr b="0" i="0" sz="1300">
                <a:solidFill>
                  <a:srgbClr val="1F2937"/>
                </a:solidFill>
                <a:latin typeface="Yu Gothic"/>
              </a:rPr>
              <a:t>表示位置：</a:t>
            </a:r>
            <a:r>
              <a:rPr b="0" i="0" u="sng" sz="1300">
                <a:solidFill>
                  <a:srgbClr val="1F2937"/>
                </a:solidFill>
                <a:latin typeface="Yu Gothic"/>
              </a:rPr>
              <a:t>領収書直下</a:t>
            </a:r>
          </a:p>
        </p:txBody>
      </p:sp>
      <p:sp>
        <p:nvSpPr>
          <p:cNvPr id="7" name="Diamond 6"/>
          <p:cNvSpPr/>
          <p:nvPr/>
        </p:nvSpPr>
        <p:spPr>
          <a:xfrm rot="2700000">
            <a:off x="7955279" y="2011680"/>
            <a:ext cx="1188720" cy="1188720"/>
          </a:xfrm>
          <a:prstGeom prst="diamond">
            <a:avLst/>
          </a:prstGeom>
          <a:solidFill>
            <a:srgbClr val="B7791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rot="-2700000"/>
          <a:lstStyle/>
          <a:p>
            <a:pPr algn="ctr"/>
            <a:r>
              <a:rPr b="1" sz="1400">
                <a:solidFill>
                  <a:srgbClr val="FFFFFF"/>
                </a:solidFill>
                <a:latin typeface="Yu Gothic"/>
              </a:rPr>
              <a:t>改定</a:t>
            </a:r>
          </a:p>
        </p:txBody>
      </p:sp>
      <p:sp>
        <p:nvSpPr>
          <p:cNvPr id="8" name="Right Arrow 7"/>
          <p:cNvSpPr/>
          <p:nvPr/>
        </p:nvSpPr>
        <p:spPr>
          <a:xfrm rot="12000000">
            <a:off x="9418320" y="2331720"/>
            <a:ext cx="1554480" cy="548640"/>
          </a:xfrm>
          <a:prstGeom prst="rightArrow">
            <a:avLst/>
          </a:prstGeom>
          <a:solidFill>
            <a:srgbClr val="B423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Yu Gothic"/>
              </a:rPr>
              <a:t>要確認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8.3 運用上の留意点（申請者・承認者 / 運用）</a:t>
            </a:r>
          </a:p>
        </p:txBody>
      </p:sp>
      <p:sp>
        <p:nvSpPr>
          <p:cNvPr id="3" name="Content Placeholder 2"/>
          <p:cNvSpPr>
            <a:spLocks noGrp="1"/>
          </p:cNvSpPr>
          <p:nvPr>
            <p:ph idx="1" sz="half"/>
          </p:nvPr>
        </p:nvSpPr>
        <p:spPr/>
        <p:txBody>
          <a:bodyPr wrap="square"/>
          <a:lstStyle/>
          <a:p>
            <a:pPr>
              <a:buNone/>
            </a:pPr>
            <a:r>
              <a:rPr b="1" sz="1500">
                <a:solidFill>
                  <a:srgbClr val="17365D"/>
                </a:solidFill>
                <a:latin typeface="Yu Gothic"/>
              </a:rPr>
              <a:t>申請者・承認者向け</a:t>
            </a:r>
          </a:p>
          <a:p>
            <a:pPr>
              <a:buFont typeface="Yu Gothic"/>
              <a:buChar char="●"/>
            </a:pPr>
            <a:r>
              <a:rPr sz="1250">
                <a:solidFill>
                  <a:srgbClr val="1F2937"/>
                </a:solidFill>
                <a:latin typeface="Yu Gothic"/>
              </a:rPr>
              <a:t>差戻し理由は1〜500文字（BR-02）</a:t>
            </a:r>
          </a:p>
          <a:p>
            <a:pPr>
              <a:buFont typeface="Yu Gothic"/>
              <a:buChar char="●"/>
            </a:pPr>
            <a:r>
              <a:rPr sz="1250">
                <a:solidFill>
                  <a:srgbClr val="1F2937"/>
                </a:solidFill>
                <a:latin typeface="Yu Gothic"/>
              </a:rPr>
              <a:t>支払済(PAID)は更新不可、取消はDRAFTのみ（重要な不変条件）</a:t>
            </a:r>
          </a:p>
          <a:p>
            <a:pPr>
              <a:buFont typeface="Yu Gothic"/>
              <a:buChar char="●"/>
            </a:pPr>
            <a:r>
              <a:rPr sz="1250">
                <a:solidFill>
                  <a:srgbClr val="1F2937"/>
                </a:solidFill>
                <a:latin typeface="Yu Gothic"/>
              </a:rPr>
              <a:t>会計連携5回失敗でERROR・DLQへ移管（BR-03）</a:t>
            </a:r>
          </a:p>
          <a:p>
            <a:pPr>
              <a:buFont typeface="Yu Gothic"/>
              <a:buChar char="●"/>
            </a:pPr>
            <a:r>
              <a:rPr sz="1250">
                <a:solidFill>
                  <a:srgbClr val="1F2937"/>
                </a:solidFill>
                <a:latin typeface="Yu Gothic"/>
              </a:rPr>
              <a:t>同一Idempotency-Keyの再送で二重登録しない（重要な不変条件／DR-04一意制約）</a:t>
            </a:r>
          </a:p>
        </p:txBody>
      </p:sp>
      <p:sp>
        <p:nvSpPr>
          <p:cNvPr id="4" name="Content Placeholder 3"/>
          <p:cNvSpPr>
            <a:spLocks noGrp="1"/>
          </p:cNvSpPr>
          <p:nvPr>
            <p:ph idx="2" sz="half"/>
          </p:nvPr>
        </p:nvSpPr>
        <p:spPr/>
        <p:txBody>
          <a:bodyPr wrap="square"/>
          <a:lstStyle/>
          <a:p>
            <a:pPr>
              <a:buNone/>
            </a:pPr>
            <a:r>
              <a:rPr b="1" sz="1500">
                <a:solidFill>
                  <a:srgbClr val="17365D"/>
                </a:solidFill>
                <a:latin typeface="Yu Gothic"/>
              </a:rPr>
              <a:t>運用・データ</a:t>
            </a:r>
          </a:p>
          <a:p>
            <a:pPr>
              <a:buFont typeface="Yu Gothic"/>
              <a:buChar char="●"/>
            </a:pPr>
            <a:r>
              <a:rPr sz="1250">
                <a:solidFill>
                  <a:srgbClr val="1F2937"/>
                </a:solidFill>
                <a:latin typeface="Yu Gothic"/>
              </a:rPr>
              <a:t>ISSUE-03: 会計停止時間帯の調整。IF-06再送窓を会計主管と調整。Owner: 経理担当、期限: 2026-08-27、Status: 対応中。</a:t>
            </a:r>
          </a:p>
          <a:p>
            <a:pPr>
              <a:buFont typeface="Yu Gothic"/>
              <a:buChar char="●"/>
            </a:pPr>
            <a:r>
              <a:rPr sz="1250">
                <a:solidFill>
                  <a:srgbClr val="1F2937"/>
                </a:solidFill>
                <a:latin typeface="Yu Gothic"/>
              </a:rPr>
              <a:t>outbox_event.status: NEW/SENDING/SENT/FAILED（retry_count 上限5）</a:t>
            </a:r>
          </a:p>
          <a:p>
            <a:pPr>
              <a:buFont typeface="Yu Gothic"/>
              <a:buChar char="●"/>
            </a:pPr>
            <a:r>
              <a:rPr sz="1250">
                <a:solidFill>
                  <a:srgbClr val="1F2937"/>
                </a:solidFill>
                <a:latin typeface="Yu Gothic"/>
              </a:rPr>
              <a:t>OPS-ALM-02: DLQ件数 &gt;= 1で対象event_idを凍結、SLA即時、Runbook RB-EVT-02</a:t>
            </a:r>
          </a:p>
        </p:txBody>
      </p:sp>
      <p:sp>
        <p:nvSpPr>
          <p:cNvPr id="5" name="Date Placeholder 4"/>
          <p:cNvSpPr>
            <a:spLocks noGrp="1"/>
          </p:cNvSpPr>
          <p:nvPr>
            <p:ph type="dt" sz="half" idx="10"/>
          </p:nvPr>
        </p:nvSpPr>
        <p:spPr/>
        <p:txBody>
          <a:bodyPr/>
          <a:lstStyle/>
          <a:p>
            <a:fld id="{5BCAD085-E8A6-8845-BD4E-CB4CCA059FC4}" type="datetimeFigureOut">
              <a:rPr lang="en-US" smtClean="0"/>
              <a:t>2026-08-23</a:t>
            </a:fld>
            <a:endParaRPr lang="en-US"/>
          </a:p>
        </p:txBody>
      </p:sp>
      <p:sp>
        <p:nvSpPr>
          <p:cNvPr id="6" name="Footer Placeholder 5"/>
          <p:cNvSpPr>
            <a:spLocks noGrp="1"/>
          </p:cNvSpPr>
          <p:nvPr>
            <p:ph type="ftr" sz="quarter" idx="11"/>
          </p:nvPr>
        </p:nvSpPr>
        <p:spPr/>
        <p:txBody>
          <a:bodyPr/>
          <a:lstStyle/>
          <a:p>
            <a:r>
              <a:rPr lang="ja-JP" sz="1200"/>
              <a:t>RTMD PPTX変換検証 / CONFIDENTIAL（検証用）</a:t>
            </a:r>
          </a:p>
        </p:txBody>
      </p:sp>
      <p:sp>
        <p:nvSpPr>
          <p:cNvPr id="7" name="Slide Number Placeholder 6"/>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6.7 承認プロセス（SmartArt試行）</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13</a:t>
            </a:fld>
            <a:endParaRPr lang="en-US"/>
          </a:p>
        </p:txBody>
      </p:sp>
      <p:sp>
        <p:nvSpPr>
          <p:cNvPr id="6" name="TextBox 5"/>
          <p:cNvSpPr txBox="1"/>
          <p:nvPr/>
        </p:nvSpPr>
        <p:spPr>
          <a:xfrm>
            <a:off x="548640" y="1371600"/>
            <a:ext cx="10972800" cy="365760"/>
          </a:xfrm>
          <a:prstGeom prst="rect">
            <a:avLst/>
          </a:prstGeom>
          <a:noFill/>
        </p:spPr>
        <p:txBody>
          <a:bodyPr wrap="none">
            <a:spAutoFit/>
          </a:bodyPr>
          <a:lstStyle/>
          <a:p>
            <a:r>
              <a:rPr sz="1100" i="1">
                <a:solidFill>
                  <a:srgbClr val="667085"/>
                </a:solidFill>
                <a:latin typeface="Yu Gothic"/>
              </a:rPr>
              <a:t>SmartArt（dgm:データモデル、5ノード実データ）※直下の枠に実データを後注入</a:t>
            </a:r>
          </a:p>
        </p:txBody>
      </p:sp>
      <p:sp>
        <p:nvSpPr>
          <p:cNvPr id="7" name="Chevron 6"/>
          <p:cNvSpPr/>
          <p:nvPr/>
        </p:nvSpPr>
        <p:spPr>
          <a:xfrm>
            <a:off x="548640" y="3977639"/>
            <a:ext cx="2103120" cy="914400"/>
          </a:xfrm>
          <a:prstGeom prst="chevron">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Yu Gothic"/>
              </a:rPr>
              <a:t>申請受付</a:t>
            </a:r>
          </a:p>
        </p:txBody>
      </p:sp>
      <p:sp>
        <p:nvSpPr>
          <p:cNvPr id="8" name="Chevron 7"/>
          <p:cNvSpPr/>
          <p:nvPr/>
        </p:nvSpPr>
        <p:spPr>
          <a:xfrm>
            <a:off x="2331720" y="3977639"/>
            <a:ext cx="2103120" cy="914400"/>
          </a:xfrm>
          <a:prstGeom prst="chevron">
            <a:avLst/>
          </a:prstGeom>
          <a:solidFill>
            <a:srgbClr val="0B72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Yu Gothic"/>
              </a:rPr>
              <a:t>課長承認(≤10万円)</a:t>
            </a:r>
          </a:p>
        </p:txBody>
      </p:sp>
      <p:sp>
        <p:nvSpPr>
          <p:cNvPr id="9" name="Chevron 8"/>
          <p:cNvSpPr/>
          <p:nvPr/>
        </p:nvSpPr>
        <p:spPr>
          <a:xfrm>
            <a:off x="4114799" y="3977639"/>
            <a:ext cx="2103120" cy="914400"/>
          </a:xfrm>
          <a:prstGeom prst="chevron">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Yu Gothic"/>
              </a:rPr>
              <a:t>部長承認(&gt;10万円)</a:t>
            </a:r>
          </a:p>
        </p:txBody>
      </p:sp>
      <p:sp>
        <p:nvSpPr>
          <p:cNvPr id="10" name="Chevron 9"/>
          <p:cNvSpPr/>
          <p:nvPr/>
        </p:nvSpPr>
        <p:spPr>
          <a:xfrm>
            <a:off x="5897879" y="3977639"/>
            <a:ext cx="2103120" cy="914400"/>
          </a:xfrm>
          <a:prstGeom prst="chevron">
            <a:avLst/>
          </a:prstGeom>
          <a:solidFill>
            <a:srgbClr val="0B728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Yu Gothic"/>
              </a:rPr>
              <a:t>会計連携</a:t>
            </a:r>
          </a:p>
        </p:txBody>
      </p:sp>
      <p:sp>
        <p:nvSpPr>
          <p:cNvPr id="11" name="Chevron 10"/>
          <p:cNvSpPr/>
          <p:nvPr/>
        </p:nvSpPr>
        <p:spPr>
          <a:xfrm>
            <a:off x="7680959" y="3977639"/>
            <a:ext cx="2103120" cy="914400"/>
          </a:xfrm>
          <a:prstGeom prst="chevron">
            <a:avLst/>
          </a:prstGeom>
          <a:solidFill>
            <a:srgbClr val="17365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Yu Gothic"/>
              </a:rPr>
              <a:t>支払確定</a:t>
            </a:r>
          </a:p>
        </p:txBody>
      </p:sp>
      <p:sp>
        <p:nvSpPr>
          <p:cNvPr id="12" name="TextBox 11"/>
          <p:cNvSpPr txBox="1"/>
          <p:nvPr/>
        </p:nvSpPr>
        <p:spPr>
          <a:xfrm>
            <a:off x="548640" y="5074920"/>
            <a:ext cx="10972800" cy="1097280"/>
          </a:xfrm>
          <a:prstGeom prst="rect">
            <a:avLst/>
          </a:prstGeom>
          <a:noFill/>
        </p:spPr>
        <p:txBody>
          <a:bodyPr wrap="square">
            <a:spAutoFit/>
          </a:bodyPr>
          <a:lstStyle/>
          <a:p>
            <a:r>
              <a:rPr sz="1100" i="1">
                <a:solidFill>
                  <a:srgbClr val="667085"/>
                </a:solidFill>
                <a:latin typeface="Yu Gothic"/>
              </a:rPr>
              <a:t>同じ5工程を通常の図形テキストとしても併記（BR-01: 10万円以下は課長、超過は部長）。SmartArtのdgm:テキストのみが変換で失われるかを、上下2系統の比較で検証できる。</a:t>
            </a:r>
          </a:p>
        </p:txBody>
      </p:sp>
      <p:graphicFrame xmlns:p="http://schemas.openxmlformats.org/presentationml/2006/main" xmlns:a="http://schemas.openxmlformats.org/drawingml/2006/main" xmlns:r="http://schemas.openxmlformats.org/officeDocument/2006/relationships">
        <p:nvGraphicFramePr>
          <p:cNvPr id="13" name="SmartArt 承認プロセス"/>
          <p:cNvGraphicFramePr/>
          <p:nvPr/>
        </p:nvGraphicFramePr>
        <p:xfrm>
          <a:off x="548640" y="1828800"/>
          <a:ext cx="10972800" cy="1920240"/>
        </p:xfrm>
        <a:graphic>
          <a:graphicData uri="http://schemas.openxmlformats.org/drawingml/2006/diagram">
            <dgm:relIds xmlns:dgm="http://schemas.openxmlformats.org/drawingml/2006/diagram" xmlns:r="http://schemas.openxmlformats.org/officeDocument/2006/relationships" r:dm="rIdDgmData" r:lo="rIdDgmLayout" r:qs="rIdDgmQuickStyle" r:cs="rIdDgmColors"/>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9. 画像・OCR検証</a:t>
            </a:r>
          </a:p>
        </p:txBody>
      </p:sp>
      <p:sp>
        <p:nvSpPr>
          <p:cNvPr id="3" name="Date Placeholder 2"/>
          <p:cNvSpPr>
            <a:spLocks noGrp="1"/>
          </p:cNvSpPr>
          <p:nvPr>
            <p:ph type="dt" sz="half" idx="10"/>
          </p:nvPr>
        </p:nvSpPr>
        <p:spPr/>
        <p:txBody>
          <a:bodyPr/>
          <a:lstStyle/>
          <a:p>
            <a:fld id="{5BCAD085-E8A6-8845-BD4E-CB4CCA059FC4}" type="datetimeFigureOut">
              <a:rPr lang="en-US" smtClean="0"/>
              <a:t>2026-08-23</a:t>
            </a:fld>
            <a:endParaRPr lang="en-US"/>
          </a:p>
        </p:txBody>
      </p:sp>
      <p:sp>
        <p:nvSpPr>
          <p:cNvPr id="4" name="Footer Placeholder 3"/>
          <p:cNvSpPr>
            <a:spLocks noGrp="1"/>
          </p:cNvSpPr>
          <p:nvPr>
            <p:ph type="ftr" sz="quarter" idx="11"/>
          </p:nvPr>
        </p:nvSpPr>
        <p:spPr/>
        <p:txBody>
          <a:bodyPr/>
          <a:lstStyle/>
          <a:p>
            <a:r>
              <a:rPr lang="ja-JP" sz="1200"/>
              <a:t>RTMD PPTX変換検証 / CONFIDENTIAL（検証用）</a:t>
            </a:r>
          </a:p>
        </p:txBody>
      </p:sp>
      <p:sp>
        <p:nvSpPr>
          <p:cNvPr id="5" name="Slide Number Placeholder 4"/>
          <p:cNvSpPr>
            <a:spLocks noGrp="1"/>
          </p:cNvSpPr>
          <p:nvPr>
            <p:ph type="sldNum" sz="quarter" idx="12"/>
          </p:nvPr>
        </p:nvSpPr>
        <p:spPr/>
        <p:txBody>
          <a:bodyPr/>
          <a:lstStyle/>
          <a:p>
            <a:fld id="{C1FF6DA9-008F-8B48-92A6-B652298478BF}" type="slidenum">
              <a:rPr lang="en-US" smtClean="0"/>
              <a:t>14</a:t>
            </a:fld>
            <a:endParaRPr lang="en-US"/>
          </a:p>
        </p:txBody>
      </p:sp>
      <p:pic>
        <p:nvPicPr>
          <p:cNvPr id="6" name="Picture 5" descr="image.png"/>
          <p:cNvPicPr>
            <a:picLocks noChangeAspect="1"/>
          </p:cNvPicPr>
          <p:nvPr/>
        </p:nvPicPr>
        <p:blipFill>
          <a:blip r:embed="rId2"/>
          <a:stretch>
            <a:fillRect/>
          </a:stretch>
        </p:blipFill>
        <p:spPr>
          <a:xfrm>
            <a:off x="640080" y="1554480"/>
            <a:ext cx="5643154" cy="3291840"/>
          </a:xfrm>
          <a:prstGeom prst="rect">
            <a:avLst/>
          </a:prstGeom>
        </p:spPr>
      </p:pic>
      <p:pic>
        <p:nvPicPr>
          <p:cNvPr id="7" name="Picture 6" descr="image.png"/>
          <p:cNvPicPr>
            <a:picLocks noChangeAspect="1"/>
          </p:cNvPicPr>
          <p:nvPr/>
        </p:nvPicPr>
        <p:blipFill>
          <a:blip r:embed="rId3"/>
          <a:stretch>
            <a:fillRect/>
          </a:stretch>
        </p:blipFill>
        <p:spPr>
          <a:xfrm>
            <a:off x="6400800" y="1554480"/>
            <a:ext cx="5643154" cy="3291840"/>
          </a:xfrm>
          <a:prstGeom prst="rect">
            <a:avLst/>
          </a:prstGeom>
        </p:spPr>
      </p:pic>
      <p:sp>
        <p:nvSpPr>
          <p:cNvPr id="8" name="TextBox 7"/>
          <p:cNvSpPr txBox="1"/>
          <p:nvPr/>
        </p:nvSpPr>
        <p:spPr>
          <a:xfrm>
            <a:off x="640080" y="4983480"/>
            <a:ext cx="5120640" cy="1188720"/>
          </a:xfrm>
          <a:prstGeom prst="rect">
            <a:avLst/>
          </a:prstGeom>
          <a:noFill/>
        </p:spPr>
        <p:txBody>
          <a:bodyPr wrap="square">
            <a:spAutoFit/>
          </a:bodyPr>
          <a:lstStyle/>
          <a:p>
            <a:r>
              <a:rPr sz="1100">
                <a:solidFill>
                  <a:srgbClr val="667085"/>
                </a:solidFill>
                <a:latin typeface="Yu Gothic"/>
              </a:rPr>
              <a:t>IMG-01 / 文字を含まないPNG。画像自体がMarkdownから参照可能かを確認する。</a:t>
            </a:r>
          </a:p>
        </p:txBody>
      </p:sp>
      <p:sp>
        <p:nvSpPr>
          <p:cNvPr id="9" name="TextBox 8"/>
          <p:cNvSpPr txBox="1"/>
          <p:nvPr/>
        </p:nvSpPr>
        <p:spPr>
          <a:xfrm>
            <a:off x="6400800" y="4983480"/>
            <a:ext cx="5120640" cy="1188720"/>
          </a:xfrm>
          <a:prstGeom prst="rect">
            <a:avLst/>
          </a:prstGeom>
          <a:noFill/>
        </p:spPr>
        <p:txBody>
          <a:bodyPr wrap="square">
            <a:spAutoFit/>
          </a:bodyPr>
          <a:lstStyle/>
          <a:p>
            <a:r>
              <a:rPr sz="1100">
                <a:solidFill>
                  <a:srgbClr val="667085"/>
                </a:solidFill>
                <a:latin typeface="Yu Gothic"/>
              </a:rPr>
              <a:t>IMG-02 / 日本語・英数字を含むPNG。OCR有効時に画像内限定の文字列が派生テキストとして出力されるかを確認する（本文・ノートには記載しない）。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7365D"/>
                </a:solidFill>
                <a:latin typeface="Yu Gothic"/>
              </a:rPr>
              <a:t>まとめ・レビュー観点</a:t>
            </a:r>
          </a:p>
        </p:txBody>
      </p:sp>
      <p:sp>
        <p:nvSpPr>
          <p:cNvPr id="3" name="Content Placeholder 2"/>
          <p:cNvSpPr>
            <a:spLocks noGrp="1"/>
          </p:cNvSpPr>
          <p:nvPr>
            <p:ph idx="1"/>
          </p:nvPr>
        </p:nvSpPr>
        <p:spPr/>
        <p:txBody>
          <a:bodyPr wrap="square"/>
          <a:lstStyle/>
          <a:p>
            <a:pPr>
              <a:buFont typeface="Yu Gothic"/>
              <a:buChar char="●"/>
            </a:pPr>
            <a:r>
              <a:rPr sz="1500">
                <a:solidFill>
                  <a:srgbClr val="1F2937"/>
                </a:solidFill>
                <a:latin typeface="Yu Gothic"/>
              </a:rPr>
              <a:t>設計レビュー結果: 作成完了、レビューは条件付承認、承認は未承認（表紙 4. レビュー・承認欄）</a:t>
            </a:r>
          </a:p>
          <a:p>
            <a:pPr>
              <a:buFont typeface="Yu Gothic"/>
              <a:buChar char="●"/>
            </a:pPr>
            <a:r>
              <a:rPr sz="1500">
                <a:solidFill>
                  <a:srgbClr val="1F2937"/>
                </a:solidFill>
                <a:latin typeface="Yu Gothic"/>
              </a:rPr>
              <a:t>未決事項3件（ISSUE-01/02/03）。Ownerと期限を明記の上、合意なしに本番移行しない</a:t>
            </a:r>
          </a:p>
          <a:p>
            <a:pPr>
              <a:buFont typeface="Yu Gothic"/>
              <a:buChar char="●"/>
            </a:pPr>
            <a:r>
              <a:rPr sz="1500">
                <a:solidFill>
                  <a:srgbClr val="1F2937"/>
                </a:solidFill>
                <a:latin typeface="Yu Gothic"/>
              </a:rPr>
              <a:t>次のアクション: NFR-AVL-02のRTO/RPO確認、IF-06停止時間帯の会計主管調整（ISSUE-03）</a:t>
            </a:r>
          </a:p>
        </p:txBody>
      </p:sp>
      <p:sp>
        <p:nvSpPr>
          <p:cNvPr id="4" name="Date Placeholder 3"/>
          <p:cNvSpPr>
            <a:spLocks noGrp="1"/>
          </p:cNvSpPr>
          <p:nvPr>
            <p:ph type="dt" sz="half" idx="10"/>
          </p:nvPr>
        </p:nvSpPr>
        <p:spPr/>
        <p:txBody>
          <a:bodyPr/>
          <a:lstStyle/>
          <a:p>
            <a:fld id="{5BCAD085-E8A6-8845-BD4E-CB4CCA059FC4}" type="datetimeFigureOut">
              <a:rPr lang="en-US" smtClean="0"/>
              <a:t>2026-08-23</a:t>
            </a:fld>
            <a:endParaRPr lang="en-US"/>
          </a:p>
        </p:txBody>
      </p:sp>
      <p:sp>
        <p:nvSpPr>
          <p:cNvPr id="5" name="Footer Placeholder 4"/>
          <p:cNvSpPr>
            <a:spLocks noGrp="1"/>
          </p:cNvSpPr>
          <p:nvPr>
            <p:ph type="ftr" sz="quarter" idx="11"/>
          </p:nvPr>
        </p:nvSpPr>
        <p:spPr/>
        <p:txBody>
          <a:bodyPr/>
          <a:lstStyle/>
          <a:p>
            <a:r>
              <a:rPr lang="ja-JP" sz="1200"/>
              <a:t>RTMD PPTX変換検証 / CONFIDENTIAL（検証用）</a:t>
            </a:r>
          </a:p>
        </p:txBody>
      </p:sp>
      <p:sp>
        <p:nvSpPr>
          <p:cNvPr id="6" name="Slide Number Placeholder 5"/>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
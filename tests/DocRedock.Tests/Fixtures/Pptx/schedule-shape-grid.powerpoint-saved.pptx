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図形で組んだスケジュール</a:t>
            </a:r>
          </a:p>
        </p:txBody>
      </p:sp>
      <p:sp>
        <p:nvSpPr>
          <p:cNvPr id="3" name="GridHeader-0-工程"/>
          <p:cNvSpPr/>
          <p:nvPr/>
        </p:nvSpPr>
        <p:spPr>
          <a:xfrm>
            <a:off x="4572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工程</a:t>
            </a:r>
          </a:p>
        </p:txBody>
      </p:sp>
      <p:sp>
        <p:nvSpPr>
          <p:cNvPr id="4" name="GridHeader-1-担当"/>
          <p:cNvSpPr/>
          <p:nvPr/>
        </p:nvSpPr>
        <p:spPr>
          <a:xfrm>
            <a:off x="1920240" y="1371600"/>
            <a:ext cx="10058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担当</a:t>
            </a:r>
          </a:p>
        </p:txBody>
      </p:sp>
      <p:sp>
        <p:nvSpPr>
          <p:cNvPr id="5" name="GridHeader-2-9/1"/>
          <p:cNvSpPr/>
          <p:nvPr/>
        </p:nvSpPr>
        <p:spPr>
          <a:xfrm>
            <a:off x="29260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9/1</a:t>
            </a:r>
          </a:p>
        </p:txBody>
      </p:sp>
      <p:sp>
        <p:nvSpPr>
          <p:cNvPr id="6" name="GridHeader-3-9/2"/>
          <p:cNvSpPr/>
          <p:nvPr/>
        </p:nvSpPr>
        <p:spPr>
          <a:xfrm>
            <a:off x="438912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9/2</a:t>
            </a:r>
          </a:p>
        </p:txBody>
      </p:sp>
      <p:sp>
        <p:nvSpPr>
          <p:cNvPr id="7" name="GridHeader-4-9/3"/>
          <p:cNvSpPr/>
          <p:nvPr/>
        </p:nvSpPr>
        <p:spPr>
          <a:xfrm>
            <a:off x="585216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9/3</a:t>
            </a:r>
          </a:p>
        </p:txBody>
      </p:sp>
      <p:sp>
        <p:nvSpPr>
          <p:cNvPr id="8" name="GridHeader-5-9/4"/>
          <p:cNvSpPr/>
          <p:nvPr/>
        </p:nvSpPr>
        <p:spPr>
          <a:xfrm>
            <a:off x="73152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9/4</a:t>
            </a:r>
          </a:p>
        </p:txBody>
      </p:sp>
      <p:sp>
        <p:nvSpPr>
          <p:cNvPr id="9" name="GridHeader-6-9/5"/>
          <p:cNvSpPr/>
          <p:nvPr/>
        </p:nvSpPr>
        <p:spPr>
          <a:xfrm>
            <a:off x="877824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9/5</a:t>
            </a:r>
          </a:p>
        </p:txBody>
      </p:sp>
      <p:sp>
        <p:nvSpPr>
          <p:cNvPr id="10" name="GridHeader-7-9/8"/>
          <p:cNvSpPr/>
          <p:nvPr/>
        </p:nvSpPr>
        <p:spPr>
          <a:xfrm>
            <a:off x="102412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9/8</a:t>
            </a:r>
          </a:p>
        </p:txBody>
      </p:sp>
      <p:sp>
        <p:nvSpPr>
          <p:cNvPr id="11" name="GridLabelProcess-1-要件定義"/>
          <p:cNvSpPr/>
          <p:nvPr/>
        </p:nvSpPr>
        <p:spPr>
          <a:xfrm>
            <a:off x="457200" y="182880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要件定義</a:t>
            </a:r>
          </a:p>
        </p:txBody>
      </p:sp>
      <p:sp>
        <p:nvSpPr>
          <p:cNvPr id="12" name="GridLabelProcess-2-設計"/>
          <p:cNvSpPr/>
          <p:nvPr/>
        </p:nvSpPr>
        <p:spPr>
          <a:xfrm>
            <a:off x="457200" y="237744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設計</a:t>
            </a:r>
          </a:p>
        </p:txBody>
      </p:sp>
      <p:sp>
        <p:nvSpPr>
          <p:cNvPr id="13" name="GridLabelProcess-3-実装"/>
          <p:cNvSpPr/>
          <p:nvPr/>
        </p:nvSpPr>
        <p:spPr>
          <a:xfrm>
            <a:off x="457200" y="292608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実装</a:t>
            </a:r>
          </a:p>
        </p:txBody>
      </p:sp>
      <p:sp>
        <p:nvSpPr>
          <p:cNvPr id="14" name="GridLabelProcess-4-テスト"/>
          <p:cNvSpPr/>
          <p:nvPr/>
        </p:nvSpPr>
        <p:spPr>
          <a:xfrm>
            <a:off x="457200" y="347472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テスト</a:t>
            </a:r>
          </a:p>
        </p:txBody>
      </p:sp>
      <p:sp>
        <p:nvSpPr>
          <p:cNvPr id="15" name="GridLabelProcess-5-リリース"/>
          <p:cNvSpPr/>
          <p:nvPr/>
        </p:nvSpPr>
        <p:spPr>
          <a:xfrm>
            <a:off x="457200" y="402336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リリース</a:t>
            </a:r>
          </a:p>
        </p:txBody>
      </p:sp>
      <p:sp>
        <p:nvSpPr>
          <p:cNvPr id="16" name="GridLabelOwner-1-山田"/>
          <p:cNvSpPr/>
          <p:nvPr/>
        </p:nvSpPr>
        <p:spPr>
          <a:xfrm>
            <a:off x="1920240" y="182880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山田</a:t>
            </a:r>
          </a:p>
        </p:txBody>
      </p:sp>
      <p:sp>
        <p:nvSpPr>
          <p:cNvPr id="17" name="GridLabelOwner-2-佐藤"/>
          <p:cNvSpPr/>
          <p:nvPr/>
        </p:nvSpPr>
        <p:spPr>
          <a:xfrm>
            <a:off x="1920240" y="237744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佐藤</a:t>
            </a:r>
          </a:p>
        </p:txBody>
      </p:sp>
      <p:sp>
        <p:nvSpPr>
          <p:cNvPr id="18" name="GridLabelOwner-3-鈴木"/>
          <p:cNvSpPr/>
          <p:nvPr/>
        </p:nvSpPr>
        <p:spPr>
          <a:xfrm>
            <a:off x="1920240" y="292608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鈴木</a:t>
            </a:r>
          </a:p>
        </p:txBody>
      </p:sp>
      <p:sp>
        <p:nvSpPr>
          <p:cNvPr id="19" name="GridLabelOwner-4-田中"/>
          <p:cNvSpPr/>
          <p:nvPr/>
        </p:nvSpPr>
        <p:spPr>
          <a:xfrm>
            <a:off x="1920240" y="347472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田中</a:t>
            </a:r>
          </a:p>
        </p:txBody>
      </p:sp>
      <p:sp>
        <p:nvSpPr>
          <p:cNvPr id="20" name="GridLabelOwner-5-全員"/>
          <p:cNvSpPr/>
          <p:nvPr/>
        </p:nvSpPr>
        <p:spPr>
          <a:xfrm>
            <a:off x="1920240" y="402336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全員</a:t>
            </a:r>
          </a:p>
        </p:txBody>
      </p:sp>
      <p:sp>
        <p:nvSpPr>
          <p:cNvPr id="21" name="Overlay-Arrow-要件定義"/>
          <p:cNvSpPr/>
          <p:nvPr/>
        </p:nvSpPr>
        <p:spPr>
          <a:xfrm>
            <a:off x="2980944" y="1938527"/>
            <a:ext cx="2816352" cy="32918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要件定義</a:t>
            </a:r>
          </a:p>
        </p:txBody>
      </p:sp>
      <p:sp>
        <p:nvSpPr>
          <p:cNvPr id="22" name="Overlay-Arrow-設計"/>
          <p:cNvSpPr/>
          <p:nvPr/>
        </p:nvSpPr>
        <p:spPr>
          <a:xfrm>
            <a:off x="4443984" y="2487168"/>
            <a:ext cx="4279391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設計</a:t>
            </a:r>
          </a:p>
        </p:txBody>
      </p:sp>
      <p:sp>
        <p:nvSpPr>
          <p:cNvPr id="23" name="Overlay-Bar-実装"/>
          <p:cNvSpPr/>
          <p:nvPr/>
        </p:nvSpPr>
        <p:spPr>
          <a:xfrm>
            <a:off x="5907024" y="3035808"/>
            <a:ext cx="4279391" cy="329184"/>
          </a:xfrm>
          <a:prstGeom prst="rect">
            <a:avLst/>
          </a:prstGeom>
          <a:solidFill>
            <a:srgbClr val="242B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erlay-Arrow-テスト"/>
          <p:cNvSpPr/>
          <p:nvPr/>
        </p:nvSpPr>
        <p:spPr>
          <a:xfrm>
            <a:off x="7370064" y="3584448"/>
            <a:ext cx="4279391" cy="329184"/>
          </a:xfrm>
          <a:prstGeom prst="left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テスト</a:t>
            </a:r>
          </a:p>
        </p:txBody>
      </p:sp>
      <p:sp>
        <p:nvSpPr>
          <p:cNvPr id="25" name="Overlay-Diamond-リリース"/>
          <p:cNvSpPr/>
          <p:nvPr/>
        </p:nvSpPr>
        <p:spPr>
          <a:xfrm>
            <a:off x="10835640" y="4160520"/>
            <a:ext cx="274320" cy="274320"/>
          </a:xfrm>
          <a:prstGeom prst="diamond">
            <a:avLst/>
          </a:prstGeom>
          <a:solidFill>
            <a:srgbClr val="B423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Overlay-TodayLine"/>
          <p:cNvCxnSpPr/>
          <p:nvPr/>
        </p:nvCxnSpPr>
        <p:spPr>
          <a:xfrm>
            <a:off x="6583680" y="1371600"/>
            <a:ext cx="0" cy="3200400"/>
          </a:xfrm>
          <a:prstGeom prst="line">
            <a:avLst/>
          </a:prstGeom>
          <a:ln w="28575">
            <a:solidFill>
              <a:srgbClr val="B4231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erlay-Label-レビュー"/>
          <p:cNvSpPr txBox="1"/>
          <p:nvPr/>
        </p:nvSpPr>
        <p:spPr>
          <a:xfrm>
            <a:off x="882396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42318"/>
                </a:solidFill>
                <a:latin typeface="Yu Gothic"/>
              </a:rPr>
              <a:t>▲レビュー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本体セルあり</a:t>
            </a:r>
          </a:p>
        </p:txBody>
      </p:sp>
      <p:sp>
        <p:nvSpPr>
          <p:cNvPr id="3" name="GridHeader-0-工程"/>
          <p:cNvSpPr/>
          <p:nvPr/>
        </p:nvSpPr>
        <p:spPr>
          <a:xfrm>
            <a:off x="4572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工程</a:t>
            </a:r>
          </a:p>
        </p:txBody>
      </p:sp>
      <p:sp>
        <p:nvSpPr>
          <p:cNvPr id="4" name="GridHeader-1-担当"/>
          <p:cNvSpPr/>
          <p:nvPr/>
        </p:nvSpPr>
        <p:spPr>
          <a:xfrm>
            <a:off x="1920240" y="1371600"/>
            <a:ext cx="10058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担当</a:t>
            </a:r>
          </a:p>
        </p:txBody>
      </p:sp>
      <p:sp>
        <p:nvSpPr>
          <p:cNvPr id="5" name="GridHeader-2-9/1"/>
          <p:cNvSpPr/>
          <p:nvPr/>
        </p:nvSpPr>
        <p:spPr>
          <a:xfrm>
            <a:off x="29260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9/1</a:t>
            </a:r>
          </a:p>
        </p:txBody>
      </p:sp>
      <p:sp>
        <p:nvSpPr>
          <p:cNvPr id="6" name="GridHeader-3-9/2"/>
          <p:cNvSpPr/>
          <p:nvPr/>
        </p:nvSpPr>
        <p:spPr>
          <a:xfrm>
            <a:off x="438912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9/2</a:t>
            </a:r>
          </a:p>
        </p:txBody>
      </p:sp>
      <p:sp>
        <p:nvSpPr>
          <p:cNvPr id="7" name="GridHeader-4-9/3"/>
          <p:cNvSpPr/>
          <p:nvPr/>
        </p:nvSpPr>
        <p:spPr>
          <a:xfrm>
            <a:off x="585216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9/3</a:t>
            </a:r>
          </a:p>
        </p:txBody>
      </p:sp>
      <p:sp>
        <p:nvSpPr>
          <p:cNvPr id="8" name="GridHeader-5-9/4"/>
          <p:cNvSpPr/>
          <p:nvPr/>
        </p:nvSpPr>
        <p:spPr>
          <a:xfrm>
            <a:off x="73152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9/4</a:t>
            </a:r>
          </a:p>
        </p:txBody>
      </p:sp>
      <p:sp>
        <p:nvSpPr>
          <p:cNvPr id="9" name="GridHeader-6-9/5"/>
          <p:cNvSpPr/>
          <p:nvPr/>
        </p:nvSpPr>
        <p:spPr>
          <a:xfrm>
            <a:off x="877824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9/5</a:t>
            </a:r>
          </a:p>
        </p:txBody>
      </p:sp>
      <p:sp>
        <p:nvSpPr>
          <p:cNvPr id="10" name="GridHeader-7-9/8"/>
          <p:cNvSpPr/>
          <p:nvPr/>
        </p:nvSpPr>
        <p:spPr>
          <a:xfrm>
            <a:off x="102412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9/8</a:t>
            </a:r>
          </a:p>
        </p:txBody>
      </p:sp>
      <p:sp>
        <p:nvSpPr>
          <p:cNvPr id="11" name="GridLabelProcess-1-要件定義"/>
          <p:cNvSpPr/>
          <p:nvPr/>
        </p:nvSpPr>
        <p:spPr>
          <a:xfrm>
            <a:off x="457200" y="182880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要件定義</a:t>
            </a:r>
          </a:p>
        </p:txBody>
      </p:sp>
      <p:sp>
        <p:nvSpPr>
          <p:cNvPr id="12" name="GridLabelProcess-2-設計"/>
          <p:cNvSpPr/>
          <p:nvPr/>
        </p:nvSpPr>
        <p:spPr>
          <a:xfrm>
            <a:off x="457200" y="237744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設計</a:t>
            </a:r>
          </a:p>
        </p:txBody>
      </p:sp>
      <p:sp>
        <p:nvSpPr>
          <p:cNvPr id="13" name="GridLabelProcess-3-実装"/>
          <p:cNvSpPr/>
          <p:nvPr/>
        </p:nvSpPr>
        <p:spPr>
          <a:xfrm>
            <a:off x="457200" y="292608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実装</a:t>
            </a:r>
          </a:p>
        </p:txBody>
      </p:sp>
      <p:sp>
        <p:nvSpPr>
          <p:cNvPr id="14" name="GridLabelProcess-4-テスト"/>
          <p:cNvSpPr/>
          <p:nvPr/>
        </p:nvSpPr>
        <p:spPr>
          <a:xfrm>
            <a:off x="457200" y="347472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テスト</a:t>
            </a:r>
          </a:p>
        </p:txBody>
      </p:sp>
      <p:sp>
        <p:nvSpPr>
          <p:cNvPr id="15" name="GridLabelProcess-5-リリース"/>
          <p:cNvSpPr/>
          <p:nvPr/>
        </p:nvSpPr>
        <p:spPr>
          <a:xfrm>
            <a:off x="457200" y="4023360"/>
            <a:ext cx="14630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リリース</a:t>
            </a:r>
          </a:p>
        </p:txBody>
      </p:sp>
      <p:sp>
        <p:nvSpPr>
          <p:cNvPr id="16" name="GridLabelOwner-1-山田"/>
          <p:cNvSpPr/>
          <p:nvPr/>
        </p:nvSpPr>
        <p:spPr>
          <a:xfrm>
            <a:off x="1920240" y="182880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山田</a:t>
            </a:r>
          </a:p>
        </p:txBody>
      </p:sp>
      <p:sp>
        <p:nvSpPr>
          <p:cNvPr id="17" name="GridLabelOwner-2-佐藤"/>
          <p:cNvSpPr/>
          <p:nvPr/>
        </p:nvSpPr>
        <p:spPr>
          <a:xfrm>
            <a:off x="1920240" y="237744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佐藤</a:t>
            </a:r>
          </a:p>
        </p:txBody>
      </p:sp>
      <p:sp>
        <p:nvSpPr>
          <p:cNvPr id="18" name="GridLabelOwner-3-鈴木"/>
          <p:cNvSpPr/>
          <p:nvPr/>
        </p:nvSpPr>
        <p:spPr>
          <a:xfrm>
            <a:off x="1920240" y="292608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鈴木</a:t>
            </a:r>
          </a:p>
        </p:txBody>
      </p:sp>
      <p:sp>
        <p:nvSpPr>
          <p:cNvPr id="19" name="GridLabelOwner-4-田中"/>
          <p:cNvSpPr/>
          <p:nvPr/>
        </p:nvSpPr>
        <p:spPr>
          <a:xfrm>
            <a:off x="1920240" y="347472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田中</a:t>
            </a:r>
          </a:p>
        </p:txBody>
      </p:sp>
      <p:sp>
        <p:nvSpPr>
          <p:cNvPr id="20" name="GridLabelOwner-5-全員"/>
          <p:cNvSpPr/>
          <p:nvPr/>
        </p:nvSpPr>
        <p:spPr>
          <a:xfrm>
            <a:off x="1920240" y="4023360"/>
            <a:ext cx="1005840" cy="548640"/>
          </a:xfrm>
          <a:prstGeom prst="rect">
            <a:avLst/>
          </a:prstGeom>
          <a:solidFill>
            <a:srgbClr val="F2F3F6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全員</a:t>
            </a:r>
          </a:p>
        </p:txBody>
      </p:sp>
      <p:sp>
        <p:nvSpPr>
          <p:cNvPr id="21" name="GridBody-r1c2"/>
          <p:cNvSpPr/>
          <p:nvPr/>
        </p:nvSpPr>
        <p:spPr>
          <a:xfrm>
            <a:off x="292608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GridBody-r1c3"/>
          <p:cNvSpPr/>
          <p:nvPr/>
        </p:nvSpPr>
        <p:spPr>
          <a:xfrm>
            <a:off x="438912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GridBody-r1c4"/>
          <p:cNvSpPr/>
          <p:nvPr/>
        </p:nvSpPr>
        <p:spPr>
          <a:xfrm>
            <a:off x="585216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GridBody-r1c5"/>
          <p:cNvSpPr/>
          <p:nvPr/>
        </p:nvSpPr>
        <p:spPr>
          <a:xfrm>
            <a:off x="731520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GridBody-r1c6"/>
          <p:cNvSpPr/>
          <p:nvPr/>
        </p:nvSpPr>
        <p:spPr>
          <a:xfrm>
            <a:off x="877824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GridBody-r1c7"/>
          <p:cNvSpPr/>
          <p:nvPr/>
        </p:nvSpPr>
        <p:spPr>
          <a:xfrm>
            <a:off x="10241280" y="182880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GridBody-r2c2"/>
          <p:cNvSpPr/>
          <p:nvPr/>
        </p:nvSpPr>
        <p:spPr>
          <a:xfrm>
            <a:off x="292608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GridBody-r2c3"/>
          <p:cNvSpPr/>
          <p:nvPr/>
        </p:nvSpPr>
        <p:spPr>
          <a:xfrm>
            <a:off x="438912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GridBody-r2c4"/>
          <p:cNvSpPr/>
          <p:nvPr/>
        </p:nvSpPr>
        <p:spPr>
          <a:xfrm>
            <a:off x="585216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GridBody-r2c5"/>
          <p:cNvSpPr/>
          <p:nvPr/>
        </p:nvSpPr>
        <p:spPr>
          <a:xfrm>
            <a:off x="731520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GridBody-r2c6"/>
          <p:cNvSpPr/>
          <p:nvPr/>
        </p:nvSpPr>
        <p:spPr>
          <a:xfrm>
            <a:off x="877824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GridBody-r2c7"/>
          <p:cNvSpPr/>
          <p:nvPr/>
        </p:nvSpPr>
        <p:spPr>
          <a:xfrm>
            <a:off x="10241280" y="237744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GridBody-r3c2"/>
          <p:cNvSpPr/>
          <p:nvPr/>
        </p:nvSpPr>
        <p:spPr>
          <a:xfrm>
            <a:off x="292608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GridBody-r3c3"/>
          <p:cNvSpPr/>
          <p:nvPr/>
        </p:nvSpPr>
        <p:spPr>
          <a:xfrm>
            <a:off x="438912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GridBody-r3c4"/>
          <p:cNvSpPr/>
          <p:nvPr/>
        </p:nvSpPr>
        <p:spPr>
          <a:xfrm>
            <a:off x="585216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GridBody-r3c5"/>
          <p:cNvSpPr/>
          <p:nvPr/>
        </p:nvSpPr>
        <p:spPr>
          <a:xfrm>
            <a:off x="731520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GridBody-r3c6"/>
          <p:cNvSpPr/>
          <p:nvPr/>
        </p:nvSpPr>
        <p:spPr>
          <a:xfrm>
            <a:off x="877824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GridBody-r3c7"/>
          <p:cNvSpPr/>
          <p:nvPr/>
        </p:nvSpPr>
        <p:spPr>
          <a:xfrm>
            <a:off x="10241280" y="292608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済</a:t>
            </a:r>
          </a:p>
        </p:txBody>
      </p:sp>
      <p:sp>
        <p:nvSpPr>
          <p:cNvPr id="39" name="GridBody-r4c2"/>
          <p:cNvSpPr/>
          <p:nvPr/>
        </p:nvSpPr>
        <p:spPr>
          <a:xfrm>
            <a:off x="292608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GridBody-r4c3"/>
          <p:cNvSpPr/>
          <p:nvPr/>
        </p:nvSpPr>
        <p:spPr>
          <a:xfrm>
            <a:off x="438912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GridBody-r4c4"/>
          <p:cNvSpPr/>
          <p:nvPr/>
        </p:nvSpPr>
        <p:spPr>
          <a:xfrm>
            <a:off x="585216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GridBody-r4c5"/>
          <p:cNvSpPr/>
          <p:nvPr/>
        </p:nvSpPr>
        <p:spPr>
          <a:xfrm>
            <a:off x="731520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GridBody-r4c6"/>
          <p:cNvSpPr/>
          <p:nvPr/>
        </p:nvSpPr>
        <p:spPr>
          <a:xfrm>
            <a:off x="877824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GridBody-r4c7"/>
          <p:cNvSpPr/>
          <p:nvPr/>
        </p:nvSpPr>
        <p:spPr>
          <a:xfrm>
            <a:off x="10241280" y="347472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GridBody-r5c2"/>
          <p:cNvSpPr/>
          <p:nvPr/>
        </p:nvSpPr>
        <p:spPr>
          <a:xfrm>
            <a:off x="292608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GridBody-r5c3"/>
          <p:cNvSpPr/>
          <p:nvPr/>
        </p:nvSpPr>
        <p:spPr>
          <a:xfrm>
            <a:off x="438912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GridBody-r5c4"/>
          <p:cNvSpPr/>
          <p:nvPr/>
        </p:nvSpPr>
        <p:spPr>
          <a:xfrm>
            <a:off x="585216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GridBody-r5c5"/>
          <p:cNvSpPr/>
          <p:nvPr/>
        </p:nvSpPr>
        <p:spPr>
          <a:xfrm>
            <a:off x="731520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GridBody-r5c6"/>
          <p:cNvSpPr/>
          <p:nvPr/>
        </p:nvSpPr>
        <p:spPr>
          <a:xfrm>
            <a:off x="877824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1F2937"/>
                </a:solidFill>
                <a:latin typeface="Yu Gothic"/>
              </a:rPr>
              <a:t>予定</a:t>
            </a:r>
          </a:p>
        </p:txBody>
      </p:sp>
      <p:sp>
        <p:nvSpPr>
          <p:cNvPr id="50" name="GridBody-r5c7"/>
          <p:cNvSpPr/>
          <p:nvPr/>
        </p:nvSpPr>
        <p:spPr>
          <a:xfrm>
            <a:off x="10241280" y="4023360"/>
            <a:ext cx="1463040" cy="548640"/>
          </a:xfrm>
          <a:prstGeom prst="rect">
            <a:avLst/>
          </a:prstGeom>
          <a:noFill/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erlay-Arrow-要件定義"/>
          <p:cNvSpPr/>
          <p:nvPr/>
        </p:nvSpPr>
        <p:spPr>
          <a:xfrm>
            <a:off x="2980944" y="1938527"/>
            <a:ext cx="2816352" cy="32918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要件定義</a:t>
            </a:r>
          </a:p>
        </p:txBody>
      </p:sp>
      <p:sp>
        <p:nvSpPr>
          <p:cNvPr id="52" name="Overlay-Arrow-設計"/>
          <p:cNvSpPr/>
          <p:nvPr/>
        </p:nvSpPr>
        <p:spPr>
          <a:xfrm>
            <a:off x="4443984" y="2487168"/>
            <a:ext cx="4279391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設計</a:t>
            </a:r>
          </a:p>
        </p:txBody>
      </p:sp>
      <p:sp>
        <p:nvSpPr>
          <p:cNvPr id="53" name="Overlay-Bar-実装"/>
          <p:cNvSpPr/>
          <p:nvPr/>
        </p:nvSpPr>
        <p:spPr>
          <a:xfrm>
            <a:off x="5907024" y="3035808"/>
            <a:ext cx="4279391" cy="329184"/>
          </a:xfrm>
          <a:prstGeom prst="rect">
            <a:avLst/>
          </a:prstGeom>
          <a:solidFill>
            <a:srgbClr val="242B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erlay-Arrow-テスト"/>
          <p:cNvSpPr/>
          <p:nvPr/>
        </p:nvSpPr>
        <p:spPr>
          <a:xfrm>
            <a:off x="7370064" y="3584448"/>
            <a:ext cx="4279391" cy="329184"/>
          </a:xfrm>
          <a:prstGeom prst="left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テスト</a:t>
            </a:r>
          </a:p>
        </p:txBody>
      </p:sp>
      <p:sp>
        <p:nvSpPr>
          <p:cNvPr id="55" name="Overlay-Diamond-リリース"/>
          <p:cNvSpPr/>
          <p:nvPr/>
        </p:nvSpPr>
        <p:spPr>
          <a:xfrm>
            <a:off x="10835640" y="4160520"/>
            <a:ext cx="274320" cy="274320"/>
          </a:xfrm>
          <a:prstGeom prst="diamond">
            <a:avLst/>
          </a:prstGeom>
          <a:solidFill>
            <a:srgbClr val="B423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erlay-Label-レビュー"/>
          <p:cNvSpPr txBox="1"/>
          <p:nvPr/>
        </p:nvSpPr>
        <p:spPr>
          <a:xfrm>
            <a:off x="882396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42318"/>
                </a:solidFill>
                <a:latin typeface="Yu Gothic"/>
              </a:rPr>
              <a:t>▲レビュー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カード型（表ではない）</a:t>
            </a:r>
          </a:p>
        </p:txBody>
      </p:sp>
      <p:sp>
        <p:nvSpPr>
          <p:cNvPr id="3" name="Card-機能A"/>
          <p:cNvSpPr/>
          <p:nvPr/>
        </p:nvSpPr>
        <p:spPr>
          <a:xfrm>
            <a:off x="914400" y="1554480"/>
            <a:ext cx="3200400" cy="1097280"/>
          </a:xfrm>
          <a:prstGeom prst="roundRect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機能A</a:t>
            </a:r>
          </a:p>
        </p:txBody>
      </p:sp>
      <p:sp>
        <p:nvSpPr>
          <p:cNvPr id="4" name="Card-機能B"/>
          <p:cNvSpPr/>
          <p:nvPr/>
        </p:nvSpPr>
        <p:spPr>
          <a:xfrm>
            <a:off x="4434840" y="1554480"/>
            <a:ext cx="3200400" cy="1097280"/>
          </a:xfrm>
          <a:prstGeom prst="roundRect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機能B</a:t>
            </a:r>
          </a:p>
        </p:txBody>
      </p:sp>
      <p:sp>
        <p:nvSpPr>
          <p:cNvPr id="5" name="Card-機能C"/>
          <p:cNvSpPr/>
          <p:nvPr/>
        </p:nvSpPr>
        <p:spPr>
          <a:xfrm>
            <a:off x="7955279" y="1554480"/>
            <a:ext cx="3200400" cy="1097280"/>
          </a:xfrm>
          <a:prstGeom prst="roundRect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機能C</a:t>
            </a:r>
          </a:p>
        </p:txBody>
      </p:sp>
      <p:sp>
        <p:nvSpPr>
          <p:cNvPr id="6" name="Card-機能D"/>
          <p:cNvSpPr/>
          <p:nvPr/>
        </p:nvSpPr>
        <p:spPr>
          <a:xfrm>
            <a:off x="914400" y="2971800"/>
            <a:ext cx="3200400" cy="1097280"/>
          </a:xfrm>
          <a:prstGeom prst="roundRect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機能D</a:t>
            </a:r>
          </a:p>
        </p:txBody>
      </p:sp>
      <p:sp>
        <p:nvSpPr>
          <p:cNvPr id="7" name="Card-機能E"/>
          <p:cNvSpPr/>
          <p:nvPr/>
        </p:nvSpPr>
        <p:spPr>
          <a:xfrm>
            <a:off x="4434840" y="2971800"/>
            <a:ext cx="3200400" cy="1097280"/>
          </a:xfrm>
          <a:prstGeom prst="roundRect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機能E</a:t>
            </a:r>
          </a:p>
        </p:txBody>
      </p:sp>
      <p:sp>
        <p:nvSpPr>
          <p:cNvPr id="8" name="Card-機能F"/>
          <p:cNvSpPr/>
          <p:nvPr/>
        </p:nvSpPr>
        <p:spPr>
          <a:xfrm>
            <a:off x="7955279" y="2971800"/>
            <a:ext cx="3200400" cy="1097280"/>
          </a:xfrm>
          <a:prstGeom prst="roundRect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機能F</a:t>
            </a:r>
          </a:p>
        </p:txBody>
      </p:sp>
      <p:sp>
        <p:nvSpPr>
          <p:cNvPr id="9" name="Flow-開始"/>
          <p:cNvSpPr/>
          <p:nvPr/>
        </p:nvSpPr>
        <p:spPr>
          <a:xfrm>
            <a:off x="914400" y="4617719"/>
            <a:ext cx="1645920" cy="640080"/>
          </a:xfrm>
          <a:prstGeom prst="roundRect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開始</a:t>
            </a:r>
          </a:p>
        </p:txBody>
      </p:sp>
      <p:sp>
        <p:nvSpPr>
          <p:cNvPr id="10" name="Flow-完了"/>
          <p:cNvSpPr/>
          <p:nvPr/>
        </p:nvSpPr>
        <p:spPr>
          <a:xfrm>
            <a:off x="3474720" y="4617719"/>
            <a:ext cx="1645920" cy="640080"/>
          </a:xfrm>
          <a:prstGeom prst="roundRect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完了</a:t>
            </a:r>
          </a:p>
        </p:txBody>
      </p:sp>
      <p:cxnSp>
        <p:nvCxnSpPr>
          <p:cNvPr id="11" name="Flow-Connector"/>
          <p:cNvCxnSpPr>
            <a:stCxn id="9" idx="1"/>
            <a:endCxn id="10" idx="3"/>
          </p:cNvCxnSpPr>
          <p:nvPr/>
        </p:nvCxnSpPr>
        <p:spPr>
          <a:xfrm flipV="1">
            <a:off x="914400" y="4937759"/>
            <a:ext cx="420624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17365D"/>
                </a:solidFill>
                <a:latin typeface="Yu Gothic"/>
              </a:rPr>
              <a:t>ラベル列なし</a:t>
            </a:r>
          </a:p>
        </p:txBody>
      </p:sp>
      <p:sp>
        <p:nvSpPr>
          <p:cNvPr id="3" name="GridHeader-0-9/1"/>
          <p:cNvSpPr/>
          <p:nvPr/>
        </p:nvSpPr>
        <p:spPr>
          <a:xfrm>
            <a:off x="4572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9/1</a:t>
            </a:r>
          </a:p>
        </p:txBody>
      </p:sp>
      <p:sp>
        <p:nvSpPr>
          <p:cNvPr id="4" name="GridHeader-1-9/2"/>
          <p:cNvSpPr/>
          <p:nvPr/>
        </p:nvSpPr>
        <p:spPr>
          <a:xfrm>
            <a:off x="192024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9/2</a:t>
            </a:r>
          </a:p>
        </p:txBody>
      </p:sp>
      <p:sp>
        <p:nvSpPr>
          <p:cNvPr id="5" name="GridHeader-2-9/3"/>
          <p:cNvSpPr/>
          <p:nvPr/>
        </p:nvSpPr>
        <p:spPr>
          <a:xfrm>
            <a:off x="338328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9/3</a:t>
            </a:r>
          </a:p>
        </p:txBody>
      </p:sp>
      <p:sp>
        <p:nvSpPr>
          <p:cNvPr id="6" name="GridHeader-3-9/4"/>
          <p:cNvSpPr/>
          <p:nvPr/>
        </p:nvSpPr>
        <p:spPr>
          <a:xfrm>
            <a:off x="484632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9/4</a:t>
            </a:r>
          </a:p>
        </p:txBody>
      </p:sp>
      <p:sp>
        <p:nvSpPr>
          <p:cNvPr id="7" name="GridHeader-4-9/5"/>
          <p:cNvSpPr/>
          <p:nvPr/>
        </p:nvSpPr>
        <p:spPr>
          <a:xfrm>
            <a:off x="630936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9/5</a:t>
            </a:r>
          </a:p>
        </p:txBody>
      </p:sp>
      <p:sp>
        <p:nvSpPr>
          <p:cNvPr id="8" name="GridHeader-5-9/8"/>
          <p:cNvSpPr/>
          <p:nvPr/>
        </p:nvSpPr>
        <p:spPr>
          <a:xfrm>
            <a:off x="7772400" y="1371600"/>
            <a:ext cx="1463040" cy="457200"/>
          </a:xfrm>
          <a:prstGeom prst="rect">
            <a:avLst/>
          </a:prstGeom>
          <a:solidFill>
            <a:srgbClr val="E3EAF2"/>
          </a:solidFill>
          <a:ln w="9525">
            <a:solidFill>
              <a:srgbClr val="8C9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9/8</a:t>
            </a:r>
          </a:p>
        </p:txBody>
      </p:sp>
      <p:sp>
        <p:nvSpPr>
          <p:cNvPr id="9" name="Overlay-Arrow-要件定義"/>
          <p:cNvSpPr/>
          <p:nvPr/>
        </p:nvSpPr>
        <p:spPr>
          <a:xfrm>
            <a:off x="512064" y="1938527"/>
            <a:ext cx="2816352" cy="329184"/>
          </a:xfrm>
          <a:prstGeom prst="rightArrow">
            <a:avLst/>
          </a:prstGeom>
          <a:solidFill>
            <a:srgbClr val="1736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要件定義</a:t>
            </a:r>
          </a:p>
        </p:txBody>
      </p:sp>
      <p:sp>
        <p:nvSpPr>
          <p:cNvPr id="10" name="Overlay-Arrow-設計"/>
          <p:cNvSpPr/>
          <p:nvPr/>
        </p:nvSpPr>
        <p:spPr>
          <a:xfrm>
            <a:off x="1975104" y="2487168"/>
            <a:ext cx="4279392" cy="329184"/>
          </a:xfrm>
          <a:prstGeom prst="rightArrow">
            <a:avLst/>
          </a:prstGeom>
          <a:solidFill>
            <a:srgbClr val="0B728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設計</a:t>
            </a:r>
          </a:p>
        </p:txBody>
      </p:sp>
      <p:sp>
        <p:nvSpPr>
          <p:cNvPr id="11" name="Overlay-Arrow-実装"/>
          <p:cNvSpPr/>
          <p:nvPr/>
        </p:nvSpPr>
        <p:spPr>
          <a:xfrm>
            <a:off x="3438144" y="3035808"/>
            <a:ext cx="4279392" cy="329184"/>
          </a:xfrm>
          <a:prstGeom prst="rightArrow">
            <a:avLst/>
          </a:prstGeom>
          <a:solidFill>
            <a:srgbClr val="0676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実装</a:t>
            </a:r>
          </a:p>
        </p:txBody>
      </p:sp>
      <p:sp>
        <p:nvSpPr>
          <p:cNvPr id="12" name="Overlay-Diamond"/>
          <p:cNvSpPr/>
          <p:nvPr/>
        </p:nvSpPr>
        <p:spPr>
          <a:xfrm>
            <a:off x="8366760" y="3611880"/>
            <a:ext cx="274320" cy="274320"/>
          </a:xfrm>
          <a:prstGeom prst="diamond">
            <a:avLst/>
          </a:prstGeom>
          <a:solidFill>
            <a:srgbClr val="B423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</Words>
  <Application>Microsoft Macintosh PowerPoint</Application>
  <PresentationFormat>ワイド画面</PresentationFormat>
  <Paragraphs>67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Yu Gothic</vt:lpstr>
      <vt:lpstr>Arial</vt:lpstr>
      <vt:lpstr>Calibri</vt:lpstr>
      <vt:lpstr>Office Theme</vt:lpstr>
      <vt:lpstr>図形で組んだスケジュール</vt:lpstr>
      <vt:lpstr>本体セルあり</vt:lpstr>
      <vt:lpstr>カード型（表ではない）</vt:lpstr>
      <vt:lpstr>ラベル列なし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RTMD fixture</cp:lastModifiedBy>
  <cp:revision>1</cp:revision>
  <dcterms:created xsi:type="dcterms:W3CDTF">2013-01-27T09:14:16Z</dcterms:created>
  <dcterms:modified xsi:type="dcterms:W3CDTF">2026-09-10T01:08:08Z</dcterms:modified>
  <cp:category/>
</cp:coreProperties>
</file>
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44dc8824440d3" /><Relationship Type="http://schemas.openxmlformats.org/officeDocument/2006/relationships/extended-properties" Target="/docProps/app.xml" Id="Rc3abb16e7b264f76" /><Relationship Type="http://schemas.openxmlformats.org/officeDocument/2006/relationships/officeDocument" Target="/ppt/presentation.xml" Id="R484a3bf4906046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a91901caff4a02"/>
  </p:sldMasterIdLst>
  <p:notesMasterIdLst>
    <p:notesMasterId xmlns:r="http://schemas.openxmlformats.org/officeDocument/2006/relationships" r:id="R18b43ddab1fe4349"/>
  </p:notesMasterIdLst>
  <p:sldIdLst>
    <p:sldId xmlns:r="http://schemas.openxmlformats.org/officeDocument/2006/relationships" id="256" r:id="R7915a320ee324c81"/>
    <p:sldId xmlns:r="http://schemas.openxmlformats.org/officeDocument/2006/relationships" id="257" r:id="R23beb4ab30c94456"/>
    <p:sldId xmlns:r="http://schemas.openxmlformats.org/officeDocument/2006/relationships" id="258" r:id="R0669d09b461d4aa9"/>
    <p:sldId xmlns:r="http://schemas.openxmlformats.org/officeDocument/2006/relationships" id="259" r:id="R2fccfea093614e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867491e8e4401b" /><Relationship Type="http://schemas.openxmlformats.org/officeDocument/2006/relationships/slideMaster" Target="/ppt/slideMasters/slideMaster1.xml" Id="R7ca91901caff4a02" /><Relationship Type="http://schemas.openxmlformats.org/officeDocument/2006/relationships/notesMaster" Target="/ppt/notesMasters/notesMaster1.xml" Id="R18b43ddab1fe4349" /><Relationship Type="http://schemas.openxmlformats.org/officeDocument/2006/relationships/presProps" Target="/ppt/presProps.xml" Id="Rc66979644bca4c11" /><Relationship Type="http://schemas.openxmlformats.org/officeDocument/2006/relationships/tableStyles" Target="/ppt/tableStyles.xml" Id="Rf698b49dda464fda" /><Relationship Type="http://schemas.openxmlformats.org/officeDocument/2006/relationships/slide" Target="/ppt/slides/slide1.xml" Id="R7915a320ee324c81" /><Relationship Type="http://schemas.openxmlformats.org/officeDocument/2006/relationships/slide" Target="/ppt/slides/slide2.xml" Id="R23beb4ab30c94456" /><Relationship Type="http://schemas.openxmlformats.org/officeDocument/2006/relationships/slide" Target="/ppt/slides/slide3.xml" Id="R0669d09b461d4aa9" /><Relationship Type="http://schemas.openxmlformats.org/officeDocument/2006/relationships/slide" Target="/ppt/slides/slide4.xml" Id="R2fccfea093614e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a976c8817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6137a33fa7420f" /><Relationship Type="http://schemas.openxmlformats.org/officeDocument/2006/relationships/notesMaster" Target="/ppt/notesMasters/notesMaster1.xml" Id="R39f1cdf881a1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89eb9dad74e97" /><Relationship Type="http://schemas.openxmlformats.org/officeDocument/2006/relationships/notesMaster" Target="/ppt/notesMasters/notesMaster1.xml" Id="R23f69b6c058e4d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2f1762ecc4a66" /><Relationship Type="http://schemas.openxmlformats.org/officeDocument/2006/relationships/notesMaster" Target="/ppt/notesMasters/notesMaster1.xml" Id="R3bf65dace0e4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7c9317d9d84c08" /><Relationship Type="http://schemas.openxmlformats.org/officeDocument/2006/relationships/notesMaster" Target="/ppt/notesMasters/notesMaster1.xml" Id="R0782ec9886f4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This deck is a synthetic regression corpus; no external claims or assets are used.</a:t>
            </a:r>
          </a:p>
          <a:p xmlns:a="http://schemas.openxmlformats.org/drawingml/2006/main">
            <a:r>
              <a:t>Presenter cue: confirm the first F1 edit changes only editable title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workflow diagram for PPTX round-trip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metrics are deliberately non-production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fixture; image bytes are an embedded package sentinel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0a883dcbf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6138374eac4a89" /><Relationship Type="http://schemas.openxmlformats.org/officeDocument/2006/relationships/slideLayout" Target="/ppt/slideLayouts/slideLayout1.xml" Id="R3e9a5e0ea6d345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a5e0ea6d345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353f50c4f4122" /><Relationship Type="http://schemas.openxmlformats.org/officeDocument/2006/relationships/notesSlide" Target="/ppt/notesSlides/notesSlide1.xml" Id="R1cc4c6fcb8a5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45dd25ca5423b" /><Relationship Type="http://schemas.openxmlformats.org/officeDocument/2006/relationships/notesSlide" Target="/ppt/notesSlides/notesSlide2.xml" Id="Rbd838e40e6ce44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28ea103a44cbc" /><Relationship Type="http://schemas.openxmlformats.org/officeDocument/2006/relationships/chart" Target="/ppt/slides/charts/chart1.xml" Id="R681e1f21aa624182" /><Relationship Type="http://schemas.openxmlformats.org/officeDocument/2006/relationships/notesSlide" Target="/ppt/notesSlides/notesSlide3.xml" Id="R058e285a0d0345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88a49bf454c46" /><Relationship Type="http://schemas.openxmlformats.org/officeDocument/2006/relationships/image" Target="/ppt/media/image.png" Id="R0add86c069c2411c" /><Relationship Type="http://schemas.openxmlformats.org/officeDocument/2006/relationships/notesSlide" Target="/ppt/notesSlides/notesSlide4.xml" Id="R6f1473d6903a4fd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by asset type</a:t>
            </a:r>
          </a:p>
        </c:rich>
      </c:tx>
      <c:overlay val="0"/>
    </c:title>
    <c:plotArea>
      <c:barChart>
        <c:barDir val="bar"/>
        <c:grouping val="clustered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Text</c:v>
              </c:pt>
              <c:pt idx="1">
                <c:v>Notes</c:v>
              </c:pt>
              <c:pt idx="2">
                <c:v>Table</c:v>
              </c:pt>
              <c:pt idx="3">
                <c:v>Chart</c:v>
              </c:pt>
              <c:pt idx="4">
                <c:v>Connector</c:v>
              </c:pt>
            </c:strLit>
          </c:cat>
          <c:val>
            <c:numLit>
              <c:formatCode>General</c:formatCode>
              <c:ptCount val="5"/>
              <c:pt idx="0">
                <c:v>12</c:v>
              </c:pt>
              <c:pt idx="1">
                <c:v>4</c:v>
              </c:pt>
              <c:pt idx="2">
                <c:v>2</c:v>
              </c:pt>
              <c:pt idx="3">
                <c:v>2</c:v>
              </c:pt>
              <c:pt idx="4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8B811622-D80E-4FFA-9FE6-FC8647AA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Atlas: conversion acceptance</a:t>
            </a:r>
          </a:p>
        </p:txBody>
      </p:sp>
      <p:sp>
        <p:nvSpPr>
          <p:cNvPr id="2" name="fixture-subtitle">
            <a:extLst xmlns:a="http://schemas.openxmlformats.org/drawingml/2006/main">
              <a:ext uri="{FF2B5EF4-FFF2-40B4-BE49-F238E27FC236}">
                <a16:creationId xmlns:a16="http://schemas.microsoft.com/office/drawing/2014/main" id="{1E85AFBD-6D87-4251-AC0D-B5DA0146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475569"/>
                </a:solidFill>
                <a:latin typeface="Aptos"/>
                <a:ea typeface="Aptos"/>
                <a:cs typeface="Aptos"/>
              </a:rPr>
              <a:t>A deliberately complex PowerPoint corpus for Markdown and RHMD round-trip validation</a:t>
            </a:r>
          </a:p>
        </p:txBody>
      </p:sp>
      <p:sp>
        <p:nvSpPr>
          <p:cNvPr id="3" name="acceptance-callout">
            <a:extLst xmlns:a="http://schemas.openxmlformats.org/drawingml/2006/main">
              <a:ext uri="{FF2B5EF4-FFF2-40B4-BE49-F238E27FC236}">
                <a16:creationId xmlns:a16="http://schemas.microsoft.com/office/drawing/2014/main" id="{A59B59E1-6115-4F18-926C-FAFBE52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323850" tIns="266700" rIns="323850" bIns="22860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Acceptance focus</a:t>
            </a:r>
          </a:p>
          <a:p xmlns:a="http://schemas.openxmlformats.org/drawingml/2006/main">
            <a:pPr marL="28" indent="-14">
              <a:buChar char="•"/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Preserve </a:t>
            </a:r>
            <a:r>
              <a:rPr sz="1575" b="1">
                <a:solidFill>
                  <a:srgbClr val="111827"/>
                </a:solidFill>
              </a:rPr>
              <a:t>日本語・English</a:t>
            </a:r>
            <a:r>
              <a:rPr sz="1575">
                <a:solidFill>
                  <a:srgbClr val="111827"/>
                </a:solidFill>
              </a:rPr>
              <a:t> text, emphasis, and list structure.</a:t>
            </a:r>
          </a:p>
          <a:p xmlns:a="http://schemas.openxmlformats.org/drawingml/2006/main">
            <a:pPr marL="28" indent="-14">
              <a:buChar char="•"/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Keep </a:t>
            </a:r>
            <a:r>
              <a:rPr sz="1575" b="1">
                <a:solidFill>
                  <a:srgbClr val="111827"/>
                </a:solidFill>
              </a:rPr>
              <a:t>native tables, charts, pictures, and connectors</a:t>
            </a:r>
            <a:r>
              <a:rPr sz="1575">
                <a:solidFill>
                  <a:srgbClr val="111827"/>
                </a:solidFill>
              </a:rPr>
              <a:t> protected during F1 edits.</a:t>
            </a:r>
          </a:p>
          <a:p xmlns:a="http://schemas.openxmlformats.org/drawingml/2006/main">
            <a:pPr marL="28" indent="-14">
              <a:buChar char="•"/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Retain presenter notes with the [Sources] marker.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B899D31-EE0B-405A-BE63-90AC9FAD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475569"/>
                </a:solidFill>
                <a:latin typeface="Aptos"/>
                <a:ea typeface="Aptos"/>
                <a:cs typeface="Aptos"/>
              </a:rPr>
              <a:t>RTMD PPTX complex fixture · 01</a:t>
            </a:r>
          </a:p>
        </p:txBody>
      </p:sp>
    </p:spTree>
    <p:extLst>
      <p:ext uri="{BB962C8B-B14F-4D97-AF65-F5344CB8AC3E}">
        <p14:creationId xmlns:p14="http://schemas.microsoft.com/office/powerpoint/2010/main" val="2121136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B3CBBE1C-DD69-4B88-A5C2-50BF502A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release flow keeps ownership visible</a:t>
            </a:r>
          </a:p>
        </p:txBody>
      </p:sp>
      <p:sp>
        <p:nvSpPr>
          <p:cNvPr id="2" name="fixture-subtitle">
            <a:extLst xmlns:a="http://schemas.openxmlformats.org/drawingml/2006/main">
              <a:ext uri="{FF2B5EF4-FFF2-40B4-BE49-F238E27FC236}">
                <a16:creationId xmlns:a16="http://schemas.microsoft.com/office/drawing/2014/main" id="{64D8777B-BA3B-4737-9B27-74487CB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Connected native shapes exercise protected connector extraction.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FC721E-3448-4A96-804A-CE072F4B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intake">
            <a:extLst xmlns:a="http://schemas.openxmlformats.org/drawingml/2006/main">
              <a:ext uri="{FF2B5EF4-FFF2-40B4-BE49-F238E27FC236}">
                <a16:creationId xmlns:a16="http://schemas.microsoft.com/office/drawing/2014/main" id="{E75320BF-EBBC-4192-BE82-DA0512CA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71450" tIns="171450" rIns="171450" bIns="11430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01 · Intake</a:t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Read original.pptx and build a graph.</a:t>
            </a:r>
          </a:p>
        </p:txBody>
      </p:sp>
      <p:sp>
        <p:nvSpPr>
          <p:cNvPr id="5" name="projection">
            <a:extLst xmlns:a="http://schemas.openxmlformats.org/drawingml/2006/main">
              <a:ext uri="{FF2B5EF4-FFF2-40B4-BE49-F238E27FC236}">
                <a16:creationId xmlns:a16="http://schemas.microsoft.com/office/drawing/2014/main" id="{861FE8EC-FAF1-43A6-8F8E-C17AE79D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71450" tIns="171450" rIns="171450" bIns="11430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02 · Projection</a:t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Export editable text as Markdown.</a:t>
            </a:r>
          </a:p>
        </p:txBody>
      </p:sp>
      <p:sp>
        <p:nvSpPr>
          <p:cNvPr id="6" name="review">
            <a:extLst xmlns:a="http://schemas.openxmlformats.org/drawingml/2006/main">
              <a:ext uri="{FF2B5EF4-FFF2-40B4-BE49-F238E27FC236}">
                <a16:creationId xmlns:a16="http://schemas.microsoft.com/office/drawing/2014/main" id="{B2ADE072-FAFB-468F-8EAD-A382A0D8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71450" tIns="171450" rIns="171450" bIns="11430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03 · Review</a:t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Inspect changes and diagnostics.</a:t>
            </a:r>
          </a:p>
        </p:txBody>
      </p:sp>
      <p:sp>
        <p:nvSpPr>
          <p:cNvPr id="7" name="restore">
            <a:extLst xmlns:a="http://schemas.openxmlformats.org/drawingml/2006/main">
              <a:ext uri="{FF2B5EF4-FFF2-40B4-BE49-F238E27FC236}">
                <a16:creationId xmlns:a16="http://schemas.microsoft.com/office/drawing/2014/main" id="{931E4833-8CEF-43A6-B017-6E985E6F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71450" tIns="171450" rIns="171450" bIns="11430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04 · Restore</a:t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Patch existing editable shapes only.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3267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53100" y="3267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29650" y="3267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47857"/>
            </a:solidFill>
            <a:prstDash val="solid"/>
            <a:tailEnd type="arrow" w="med" len="med"/>
          </a:ln>
        </p:spPr>
      </p:cxnSp>
      <p:sp>
        <p:nvSpPr>
          <p:cNvPr id="11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15280A3F-4ACF-41C4-8AB9-438F1EB1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872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Expected F1 boundary: text in named shapes may change; connector geometry remains protected.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7D533B1-39CF-48FE-8233-92A1496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475569"/>
                </a:solidFill>
                <a:latin typeface="Aptos"/>
                <a:ea typeface="Aptos"/>
                <a:cs typeface="Aptos"/>
              </a:rPr>
              <a:t>RTMD PPTX complex fixture · 02</a:t>
            </a:r>
          </a:p>
        </p:txBody>
      </p:sp>
    </p:spTree>
    <p:extLst>
      <p:ext uri="{BB962C8B-B14F-4D97-AF65-F5344CB8AC3E}">
        <p14:creationId xmlns:p14="http://schemas.microsoft.com/office/powerpoint/2010/main" val="232222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24562B9D-F71A-46D3-9CA2-80363EBD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 data objects remain visible and protected</a:t>
            </a:r>
          </a:p>
        </p:txBody>
      </p:sp>
      <p:sp>
        <p:nvSpPr>
          <p:cNvPr id="2" name="fixture-subtitle">
            <a:extLst xmlns:a="http://schemas.openxmlformats.org/drawingml/2006/main">
              <a:ext uri="{FF2B5EF4-FFF2-40B4-BE49-F238E27FC236}">
                <a16:creationId xmlns:a16="http://schemas.microsoft.com/office/drawing/2014/main" id="{65987C16-03CE-4916-B367-1DEF3F49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A merged table and clustered chart validate extraction without flattening the slide.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CF988F-102D-4A07-B1FD-D00175C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5429250" cy="3143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1333500"/>
                <a:gridCol w="1238250"/>
                <a:gridCol w="142875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Extraction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Platform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6534"/>
                          </a:solidFill>
                        </a:rPr>
                        <a:t>Ready</a:t>
                      </a:r>
                    </a:p>
                  </a:txBody>
                  <a:tcPr marL="91440" marR="91440" marT="45720" marB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2026-09-04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Markdown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Docs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2400E"/>
                          </a:solidFill>
                        </a:rPr>
                        <a:t>Review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2026-09-08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Restore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Ready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2026-09-11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Visual QA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Planned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2026-09-15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762750" y="2076450"/>
          <a:ext xmlns:a="http://schemas.openxmlformats.org/drawingml/2006/main" cx="44958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1e1f21aa624182"/>
          </a:graphicData>
        </a:graphic>
      </p:graphicFrame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9475099-457B-4032-9255-ACA13861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475569"/>
                </a:solidFill>
                <a:latin typeface="Aptos"/>
                <a:ea typeface="Aptos"/>
                <a:cs typeface="Aptos"/>
              </a:rPr>
              <a:t>RTMD PPTX complex fixture · 03</a:t>
            </a:r>
          </a:p>
        </p:txBody>
      </p:sp>
    </p:spTree>
    <p:extLst>
      <p:ext uri="{BB962C8B-B14F-4D97-AF65-F5344CB8AC3E}">
        <p14:creationId xmlns:p14="http://schemas.microsoft.com/office/powerpoint/2010/main" val="1202671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854509E0-CE0F-472C-9F76-F4241E64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Picture and conclusion</a:t>
            </a:r>
          </a:p>
        </p:txBody>
      </p:sp>
      <p:sp>
        <p:nvSpPr>
          <p:cNvPr id="2" name="fixture-subtitle">
            <a:extLst xmlns:a="http://schemas.openxmlformats.org/drawingml/2006/main">
              <a:ext uri="{FF2B5EF4-FFF2-40B4-BE49-F238E27FC236}">
                <a16:creationId xmlns:a16="http://schemas.microsoft.com/office/drawing/2014/main" id="{2D6FE365-8B05-4649-926F-C75EE4C8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Rich runs and a tiny PNG exercise media preservation; text remains editable.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611E42-53CA-41E7-88CB-5EC228A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d86c069c2411c"/>
          <a:srcRect xmlns:a="http://schemas.openxmlformats.org/drawingml/2006/main" l="0" t="12121" r="0" b="12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14550"/>
            <a:ext cx="314325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picture-frame">
            <a:extLst xmlns:a="http://schemas.openxmlformats.org/drawingml/2006/main">
              <a:ext uri="{FF2B5EF4-FFF2-40B4-BE49-F238E27FC236}">
                <a16:creationId xmlns:a16="http://schemas.microsoft.com/office/drawing/2014/main" id="{258FF5D2-D16E-47C1-B924-9EDD48B4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Embedded image sentinel</a:t>
            </a:r>
          </a:p>
        </p:txBody>
      </p:sp>
      <p:sp>
        <p:nvSpPr>
          <p:cNvPr id="6" name="fixture-conclusion">
            <a:extLst xmlns:a="http://schemas.openxmlformats.org/drawingml/2006/main">
              <a:ext uri="{FF2B5EF4-FFF2-40B4-BE49-F238E27FC236}">
                <a16:creationId xmlns:a16="http://schemas.microsoft.com/office/drawing/2014/main" id="{D854A319-B78E-4BE5-A43F-2FF20DEF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681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71450" tIns="171450" rIns="171450" bIns="11430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2000" b="1">
                <a:solidFill>
                  <a:srgbClr val="2563EB"/>
                </a:solidFill>
              </a:rPr>
              <a:t>Conclusion</a:t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Markdown can safely carry </a:t>
            </a:r>
            <a:r>
              <a:rPr sz="1800" b="1" u="sng">
                <a:solidFill>
                  <a:srgbClr val="111827"/>
                </a:solidFill>
              </a:rPr>
              <a:t>editable slide copy</a:t>
            </a:r>
            <a:r>
              <a:rPr sz="1800">
                <a:solidFill>
                  <a:srgbClr val="111827"/>
                </a:solidFill>
              </a:rPr>
              <a:t> when the original PPTX remains the source of truth.</a:t>
            </a:r>
          </a:p>
        </p:txBody>
      </p:sp>
      <p:sp>
        <p:nvSpPr>
          <p:cNvPr id="7" name="final-checklist">
            <a:extLst xmlns:a="http://schemas.openxmlformats.org/drawingml/2006/main">
              <a:ext uri="{FF2B5EF4-FFF2-40B4-BE49-F238E27FC236}">
                <a16:creationId xmlns:a16="http://schemas.microsoft.com/office/drawing/2014/main" id="{DE6E7F91-CD93-426E-BD69-C2A5ECC9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4" indent="-12">
              <a:buChar char="•"/>
              <a:defRPr sz="13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MD projection keeps semantic titles and bullets.</a:t>
            </a:r>
          </a:p>
          <a:p xmlns:a="http://schemas.openxmlformats.org/drawingml/2006/main">
            <a:pPr marL="24" indent="-12">
              <a:buChar char="•"/>
              <a:defRPr sz="13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RHMD preserves image media and source provenance.</a:t>
            </a:r>
          </a:p>
          <a:p xmlns:a="http://schemas.openxmlformats.org/drawingml/2006/main">
            <a:pPr marL="24" indent="-12">
              <a:buChar char="•"/>
              <a:defRPr sz="13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F0 restores bytes; F1 keeps non-text parts unchanged.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5D06CF5-73CB-4135-B225-22CEDFD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475569"/>
                </a:solidFill>
                <a:latin typeface="Aptos"/>
                <a:ea typeface="Aptos"/>
                <a:cs typeface="Aptos"/>
              </a:rPr>
              <a:t>RTMD PPTX complex fixture · 04</a:t>
            </a:r>
          </a:p>
        </p:txBody>
      </p:sp>
    </p:spTree>
    <p:extLst>
      <p:ext uri="{BB962C8B-B14F-4D97-AF65-F5344CB8AC3E}">
        <p14:creationId xmlns:p14="http://schemas.microsoft.com/office/powerpoint/2010/main" val="179853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2026-08-25T05:37:55.9630000Z</dcterms:created>
  <dcterms:modified xsi:type="dcterms:W3CDTF">2026-08-25T05:37:55.9630000Z</dcterms:modified>
</coreProperties>
</file>